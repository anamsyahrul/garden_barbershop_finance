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C5C5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685800"/>
            <a:ext cx="441655" cy="2103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636422" y="875080"/>
            <a:ext cx="357530" cy="252374"/>
          </a:xfrm>
          <a:prstGeom prst="parallelogram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636422" y="1211580"/>
            <a:ext cx="357530" cy="252374"/>
          </a:xfrm>
          <a:prstGeom prst="parallelogram">
            <a:avLst/>
          </a:prstGeom>
          <a:solidFill>
            <a:srgbClr val="4C8BF5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636422" y="1548079"/>
            <a:ext cx="357530" cy="252374"/>
          </a:xfrm>
          <a:prstGeom prst="parallelogram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rallelogram 9"/>
          <p:cNvSpPr/>
          <p:nvPr/>
        </p:nvSpPr>
        <p:spPr>
          <a:xfrm>
            <a:off x="636422" y="1884578"/>
            <a:ext cx="357530" cy="252374"/>
          </a:xfrm>
          <a:prstGeom prst="parallelogram">
            <a:avLst/>
          </a:prstGeom>
          <a:solidFill>
            <a:srgbClr val="4C8BF5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636422" y="2221077"/>
            <a:ext cx="357530" cy="252374"/>
          </a:xfrm>
          <a:prstGeom prst="parallelogram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2297" y="559612"/>
            <a:ext cx="525780" cy="231343"/>
          </a:xfrm>
          <a:prstGeom prst="ellipse">
            <a:avLst/>
          </a:prstGeom>
          <a:solidFill>
            <a:srgbClr val="ECAE4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52297" y="2662732"/>
            <a:ext cx="525780" cy="231343"/>
          </a:xfrm>
          <a:prstGeom prst="ellipse">
            <a:avLst/>
          </a:prstGeom>
          <a:solidFill>
            <a:srgbClr val="ECAE4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063240"/>
            <a:ext cx="219456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PROPOSAL SKRIPSI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56432"/>
            <a:ext cx="333756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ptos Display"/>
              </a:rPr>
              <a:t>Garden</a:t>
            </a:r>
            <a:br/>
            <a:r>
              <a:rPr sz="3600" b="1">
                <a:solidFill>
                  <a:srgbClr val="FFFFFF"/>
                </a:solidFill>
                <a:latin typeface="Aptos Display"/>
              </a:rPr>
              <a:t>Barbershop</a:t>
            </a:r>
            <a:br/>
            <a:r>
              <a:rPr sz="3600" b="1">
                <a:solidFill>
                  <a:srgbClr val="FFFFFF"/>
                </a:solidFill>
                <a:latin typeface="Aptos Display"/>
              </a:rPr>
              <a:t>Finance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074920"/>
            <a:ext cx="868680" cy="310896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FFEE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143500"/>
            <a:ext cx="868680" cy="91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182026"/>
                </a:solidFill>
                <a:latin typeface="Aptos"/>
              </a:rPr>
              <a:t>Android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27632" y="5074920"/>
            <a:ext cx="822960" cy="310896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FFEE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27632" y="5143500"/>
            <a:ext cx="822960" cy="91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182026"/>
                </a:solidFill>
                <a:latin typeface="Aptos"/>
              </a:rPr>
              <a:t>Flutter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78608" y="5074920"/>
            <a:ext cx="960120" cy="310896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FFEE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78608" y="5143500"/>
            <a:ext cx="960120" cy="91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182026"/>
                </a:solidFill>
                <a:latin typeface="Aptos"/>
              </a:rPr>
              <a:t>Firebase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1051560"/>
            <a:ext cx="1896099" cy="3534704"/>
          </a:xfrm>
          <a:prstGeom prst="roundRect">
            <a:avLst/>
          </a:prstGeom>
          <a:solidFill>
            <a:srgbClr val="18202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50436" y="1309055"/>
            <a:ext cx="1591787" cy="3054827"/>
          </a:xfrm>
          <a:prstGeom prst="roundRect">
            <a:avLst/>
          </a:prstGeom>
          <a:solidFill>
            <a:srgbClr val="FFFFFF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5775" y="1496324"/>
            <a:ext cx="1287475" cy="18726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" b="1">
                <a:solidFill>
                  <a:srgbClr val="182026"/>
                </a:solidFill>
                <a:latin typeface="Aptos"/>
              </a:rPr>
              <a:t>Dashboard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79183" y="1905975"/>
            <a:ext cx="1322588" cy="30431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72818" y="1982053"/>
            <a:ext cx="1147023" cy="9363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91" b="0">
                <a:solidFill>
                  <a:srgbClr val="0C5C56"/>
                </a:solidFill>
                <a:latin typeface="Aptos"/>
              </a:rPr>
              <a:t>Total Rp5,1 Jt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9183" y="2350739"/>
            <a:ext cx="1322588" cy="304312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72818" y="2426817"/>
            <a:ext cx="1147023" cy="9363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91" b="0">
                <a:solidFill>
                  <a:srgbClr val="5C6D7B"/>
                </a:solidFill>
                <a:latin typeface="Aptos"/>
              </a:rPr>
              <a:t>Kas Umum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79183" y="2795503"/>
            <a:ext cx="1322588" cy="304312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72818" y="2871581"/>
            <a:ext cx="1147023" cy="9363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91" b="0">
                <a:solidFill>
                  <a:srgbClr val="5C6D7B"/>
                </a:solidFill>
                <a:latin typeface="Aptos"/>
              </a:rPr>
              <a:t>Operasional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79183" y="3240267"/>
            <a:ext cx="1322588" cy="304312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72818" y="3316345"/>
            <a:ext cx="1147023" cy="9363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91" b="0">
                <a:solidFill>
                  <a:srgbClr val="5C6D7B"/>
                </a:solidFill>
                <a:latin typeface="Aptos"/>
              </a:rPr>
              <a:t>Laporan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379183" y="3907414"/>
            <a:ext cx="1322588" cy="257495"/>
          </a:xfrm>
          <a:prstGeom prst="roundRect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39487" y="3063240"/>
            <a:ext cx="533278" cy="533278"/>
          </a:xfrm>
          <a:prstGeom prst="ellipse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rc 34"/>
          <p:cNvSpPr/>
          <p:nvPr/>
        </p:nvSpPr>
        <p:spPr>
          <a:xfrm>
            <a:off x="7219736" y="3033613"/>
            <a:ext cx="572780" cy="355518"/>
          </a:xfrm>
          <a:prstGeom prst="arc">
            <a:avLst/>
          </a:prstGeom>
          <a:solidFill>
            <a:srgbClr val="2D2623"/>
          </a:solidFill>
          <a:ln w="15240">
            <a:solidFill>
              <a:srgbClr val="2D2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081479" y="3596518"/>
            <a:ext cx="849294" cy="938174"/>
          </a:xfrm>
          <a:prstGeom prst="roundRect">
            <a:avLst/>
          </a:prstGeom>
          <a:solidFill>
            <a:srgbClr val="128076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40732" y="4426061"/>
            <a:ext cx="237012" cy="543153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614757" y="4426061"/>
            <a:ext cx="237012" cy="543153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23471" y="3803904"/>
            <a:ext cx="316016" cy="217261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812267" y="3803904"/>
            <a:ext cx="316016" cy="217261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864217" y="4031040"/>
            <a:ext cx="1343070" cy="493776"/>
          </a:xfrm>
          <a:prstGeom prst="roundRect">
            <a:avLst/>
          </a:prstGeom>
          <a:solidFill>
            <a:srgbClr val="E0EDFF"/>
          </a:solidFill>
          <a:ln w="15240">
            <a:solidFill>
              <a:srgbClr val="4C8B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259238" y="4208800"/>
            <a:ext cx="493776" cy="8887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00" b="1">
                <a:solidFill>
                  <a:srgbClr val="4C8BF5"/>
                </a:solidFill>
                <a:latin typeface="Aptos"/>
              </a:rPr>
              <a:t>APP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06209" y="5058095"/>
            <a:ext cx="1629460" cy="177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5C6D7B"/>
                </a:solidFill>
                <a:latin typeface="Aptos"/>
              </a:rPr>
              <a:t>Admin Harian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20640" y="804672"/>
            <a:ext cx="6309360" cy="12344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700" b="1">
                <a:solidFill>
                  <a:srgbClr val="182026"/>
                </a:solidFill>
                <a:latin typeface="Aptos Display"/>
              </a:rPr>
              <a:t>Rancang Bangun Aplikasi Android Pengelolaan Pendapatan dan Pembagian Hasil Capster pada Garden Barbershop Berbasis Firebase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60" y="2331720"/>
            <a:ext cx="4206240" cy="6949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5C6D7B"/>
                </a:solidFill>
                <a:latin typeface="Aptos"/>
              </a:rPr>
              <a:t>Syahrul Anam | 42322006</a:t>
            </a:r>
            <a:br/>
            <a:r>
              <a:rPr sz="1300" b="0">
                <a:solidFill>
                  <a:srgbClr val="5C6D7B"/>
                </a:solidFill>
                <a:latin typeface="Aptos"/>
              </a:rPr>
              <a:t>Program Studi Sistem Informasi</a:t>
            </a:r>
            <a:br/>
            <a:r>
              <a:rPr sz="1300" b="0">
                <a:solidFill>
                  <a:srgbClr val="5C6D7B"/>
                </a:solidFill>
                <a:latin typeface="Aptos"/>
              </a:rPr>
              <a:t>Universitas Peradaban |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Alur Cerita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Biar penguji mudah mengikuti ide penelitian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2148840" cy="141732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91056" y="1325880"/>
            <a:ext cx="603504" cy="603504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91056" y="1543141"/>
            <a:ext cx="603504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176272"/>
            <a:ext cx="173736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82026"/>
                </a:solidFill>
                <a:latin typeface="Aptos"/>
              </a:rPr>
              <a:t>Masalah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2615184"/>
            <a:ext cx="1691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0">
                <a:solidFill>
                  <a:srgbClr val="5C6D7B"/>
                </a:solidFill>
                <a:latin typeface="Aptos"/>
              </a:rPr>
              <a:t>Spreadsheet rawan salah input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71800" y="2688336"/>
            <a:ext cx="612648" cy="0"/>
          </a:xfrm>
          <a:prstGeom prst="line">
            <a:avLst/>
          </a:prstGeom>
          <a:ln w="30480">
            <a:solidFill>
              <a:srgbClr val="128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639312" y="1965960"/>
            <a:ext cx="2148840" cy="1417320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07408" y="1325880"/>
            <a:ext cx="603504" cy="603504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07408" y="1543141"/>
            <a:ext cx="603504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2176272"/>
            <a:ext cx="173736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82026"/>
                </a:solidFill>
                <a:latin typeface="Aptos"/>
              </a:rPr>
              <a:t>Solusi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2615184"/>
            <a:ext cx="1691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0">
                <a:solidFill>
                  <a:srgbClr val="5C6D7B"/>
                </a:solidFill>
                <a:latin typeface="Aptos"/>
              </a:rPr>
              <a:t>Aplikasi Android internal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788152" y="2688336"/>
            <a:ext cx="612648" cy="0"/>
          </a:xfrm>
          <a:prstGeom prst="line">
            <a:avLst/>
          </a:prstGeom>
          <a:ln w="30480">
            <a:solidFill>
              <a:srgbClr val="128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455664" y="1965960"/>
            <a:ext cx="2148840" cy="141732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23760" y="1325880"/>
            <a:ext cx="603504" cy="603504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1543141"/>
            <a:ext cx="603504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56832" y="2176272"/>
            <a:ext cx="173736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82026"/>
                </a:solidFill>
                <a:latin typeface="Aptos"/>
              </a:rPr>
              <a:t>Kontrol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615184"/>
            <a:ext cx="1691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0">
                <a:solidFill>
                  <a:srgbClr val="5C6D7B"/>
                </a:solidFill>
                <a:latin typeface="Aptos"/>
              </a:rPr>
              <a:t>Role dan Firebase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04504" y="2688336"/>
            <a:ext cx="612648" cy="0"/>
          </a:xfrm>
          <a:prstGeom prst="line">
            <a:avLst/>
          </a:prstGeom>
          <a:ln w="30480">
            <a:solidFill>
              <a:srgbClr val="128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272016" y="1965960"/>
            <a:ext cx="2148840" cy="1417320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40112" y="1325880"/>
            <a:ext cx="603504" cy="603504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40112" y="1543141"/>
            <a:ext cx="603504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3184" y="2176272"/>
            <a:ext cx="1737360" cy="2103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82026"/>
                </a:solidFill>
                <a:latin typeface="Aptos"/>
              </a:rPr>
              <a:t>Hasil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1472" y="2615184"/>
            <a:ext cx="169164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050" b="0">
                <a:solidFill>
                  <a:srgbClr val="5C6D7B"/>
                </a:solidFill>
                <a:latin typeface="Aptos"/>
              </a:rPr>
              <a:t>Laporan bagi hasil otomatis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4663440"/>
            <a:ext cx="987552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0C5C56"/>
                </a:solidFill>
                <a:latin typeface="Aptos"/>
              </a:rPr>
              <a:t>Presentasi dibuat sebagai narasi: dari kondisi nyata Garden Barbershop sampai rancangan sistem yang diusulkan.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Latar Belakang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Usaha barbershop membutuhkan pencatatan pendapatan yang rapi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03</a:t>
            </a:r>
          </a:p>
        </p:txBody>
      </p:sp>
      <p:sp>
        <p:nvSpPr>
          <p:cNvPr id="9" name="Oval 8"/>
          <p:cNvSpPr/>
          <p:nvPr/>
        </p:nvSpPr>
        <p:spPr>
          <a:xfrm>
            <a:off x="1195120" y="1828800"/>
            <a:ext cx="518464" cy="518464"/>
          </a:xfrm>
          <a:prstGeom prst="ellipse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75918" y="1799996"/>
            <a:ext cx="556869" cy="345643"/>
          </a:xfrm>
          <a:prstGeom prst="arc">
            <a:avLst/>
          </a:prstGeom>
          <a:solidFill>
            <a:srgbClr val="2D2623"/>
          </a:solidFill>
          <a:ln w="15240">
            <a:solidFill>
              <a:srgbClr val="2D2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41501" y="2347264"/>
            <a:ext cx="825703" cy="912114"/>
          </a:xfrm>
          <a:prstGeom prst="roundRect">
            <a:avLst/>
          </a:prstGeom>
          <a:solidFill>
            <a:srgbClr val="4C8BF5"/>
          </a:solidFill>
          <a:ln w="15240">
            <a:solidFill>
              <a:srgbClr val="4C8B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99108" y="3153765"/>
            <a:ext cx="230428" cy="528066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59966" y="3153765"/>
            <a:ext cx="230428" cy="528066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7882" y="2548890"/>
            <a:ext cx="307238" cy="211226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751990" y="2548890"/>
            <a:ext cx="307238" cy="211226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3768242"/>
            <a:ext cx="1584198" cy="17282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5C6D7B"/>
                </a:solidFill>
                <a:latin typeface="Aptos"/>
              </a:rPr>
              <a:t>Capster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1691640"/>
            <a:ext cx="326440" cy="15544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2225649" y="1831543"/>
            <a:ext cx="264261" cy="186537"/>
          </a:xfrm>
          <a:prstGeom prst="parallelogram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2225649" y="2080260"/>
            <a:ext cx="264261" cy="186537"/>
          </a:xfrm>
          <a:prstGeom prst="parallelogram">
            <a:avLst/>
          </a:prstGeom>
          <a:solidFill>
            <a:srgbClr val="4C8BF5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2225649" y="2328976"/>
            <a:ext cx="264261" cy="186537"/>
          </a:xfrm>
          <a:prstGeom prst="parallelogram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2225649" y="2577693"/>
            <a:ext cx="264261" cy="186537"/>
          </a:xfrm>
          <a:prstGeom prst="parallelogram">
            <a:avLst/>
          </a:prstGeom>
          <a:solidFill>
            <a:srgbClr val="4C8BF5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2225649" y="2826410"/>
            <a:ext cx="264261" cy="186537"/>
          </a:xfrm>
          <a:prstGeom prst="parallelogram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163470" y="1598371"/>
            <a:ext cx="388620" cy="170992"/>
          </a:xfrm>
          <a:prstGeom prst="ellipse">
            <a:avLst/>
          </a:prstGeom>
          <a:solidFill>
            <a:srgbClr val="ECAE4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163470" y="3152851"/>
            <a:ext cx="388620" cy="170992"/>
          </a:xfrm>
          <a:prstGeom prst="ellipse">
            <a:avLst/>
          </a:prstGeom>
          <a:solidFill>
            <a:srgbClr val="ECAE4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017520" y="1417320"/>
            <a:ext cx="1481328" cy="2761488"/>
          </a:xfrm>
          <a:prstGeom prst="roundRect">
            <a:avLst/>
          </a:prstGeom>
          <a:solidFill>
            <a:srgbClr val="18202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136391" y="1618488"/>
            <a:ext cx="1243584" cy="2386584"/>
          </a:xfrm>
          <a:prstGeom prst="roundRect">
            <a:avLst/>
          </a:prstGeom>
          <a:solidFill>
            <a:srgbClr val="FFFFFF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18688" y="1764792"/>
            <a:ext cx="1005840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>
                <a:solidFill>
                  <a:srgbClr val="182026"/>
                </a:solidFill>
                <a:latin typeface="Aptos"/>
              </a:rPr>
              <a:t>Transaksi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36976" y="2084832"/>
            <a:ext cx="1033271" cy="237744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10127" y="2144268"/>
            <a:ext cx="896112" cy="73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40" b="0">
                <a:solidFill>
                  <a:srgbClr val="0C5C56"/>
                </a:solidFill>
                <a:latin typeface="Aptos"/>
              </a:rPr>
              <a:t>Tanggal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36976" y="2432304"/>
            <a:ext cx="1033271" cy="237744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10127" y="2491740"/>
            <a:ext cx="896112" cy="73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40" b="0">
                <a:solidFill>
                  <a:srgbClr val="5C6D7B"/>
                </a:solidFill>
                <a:latin typeface="Aptos"/>
              </a:rPr>
              <a:t>Capster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36976" y="2779776"/>
            <a:ext cx="1033271" cy="237744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10127" y="2839212"/>
            <a:ext cx="896112" cy="73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40" b="0">
                <a:solidFill>
                  <a:srgbClr val="5C6D7B"/>
                </a:solidFill>
                <a:latin typeface="Aptos"/>
              </a:rPr>
              <a:t>Layanan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36976" y="3127248"/>
            <a:ext cx="1033271" cy="237744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0127" y="3186684"/>
            <a:ext cx="896112" cy="73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40" b="0">
                <a:solidFill>
                  <a:srgbClr val="5C6D7B"/>
                </a:solidFill>
                <a:latin typeface="Aptos"/>
              </a:rPr>
              <a:t>Pendapatan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36976" y="3648456"/>
            <a:ext cx="1033271" cy="201168"/>
          </a:xfrm>
          <a:prstGeom prst="round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617720" y="2743200"/>
            <a:ext cx="1051560" cy="0"/>
          </a:xfrm>
          <a:prstGeom prst="line">
            <a:avLst/>
          </a:prstGeom>
          <a:ln w="30480">
            <a:solidFill>
              <a:srgbClr val="128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897880" y="1691640"/>
            <a:ext cx="2560320" cy="1874519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2" y="1819656"/>
            <a:ext cx="2231136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5C6D7B"/>
                </a:solidFill>
                <a:latin typeface="Aptos"/>
              </a:rPr>
              <a:t>Spreadsheet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9048" y="2130552"/>
            <a:ext cx="359664" cy="246887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58712" y="2130552"/>
            <a:ext cx="359664" cy="246887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818376" y="2130552"/>
            <a:ext cx="359664" cy="246887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78040" y="2130552"/>
            <a:ext cx="359664" cy="246887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37703" y="2130552"/>
            <a:ext cx="359664" cy="246887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97368" y="2130552"/>
            <a:ext cx="359664" cy="246887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99048" y="2377440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58712" y="2377440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18376" y="2377440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78040" y="2377440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537703" y="2377440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897368" y="2377440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99048" y="2624328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58712" y="2624328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818376" y="2624328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78040" y="2624328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537703" y="2624328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897368" y="2624328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099048" y="2871215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58712" y="2871215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818376" y="2871215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78040" y="2871215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37703" y="2871215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897368" y="2871215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099048" y="3118104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58712" y="3118104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818376" y="3118104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78040" y="3118104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537703" y="3118104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897368" y="3118104"/>
            <a:ext cx="359664" cy="246887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8732520" y="2743200"/>
            <a:ext cx="914400" cy="0"/>
          </a:xfrm>
          <a:prstGeom prst="line">
            <a:avLst/>
          </a:prstGeom>
          <a:ln w="30480">
            <a:solidFill>
              <a:srgbClr val="ECAE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9829800" y="1783080"/>
            <a:ext cx="1645920" cy="169164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04120" y="2240280"/>
            <a:ext cx="10972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0C5C56"/>
                </a:solidFill>
                <a:latin typeface="Aptos"/>
              </a:rPr>
              <a:t>Laporan</a:t>
            </a:r>
            <a:br/>
            <a:r>
              <a:rPr sz="1800" b="1">
                <a:solidFill>
                  <a:srgbClr val="0C5C56"/>
                </a:solidFill>
                <a:latin typeface="Aptos"/>
              </a:rPr>
              <a:t>Bulanan</a:t>
            </a:r>
          </a:p>
        </p:txBody>
      </p:sp>
      <p:sp>
        <p:nvSpPr>
          <p:cNvPr id="73" name="Oval 72"/>
          <p:cNvSpPr/>
          <p:nvPr/>
        </p:nvSpPr>
        <p:spPr>
          <a:xfrm>
            <a:off x="1005840" y="4837176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225296" y="4754880"/>
            <a:ext cx="9473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182026"/>
                </a:solidFill>
                <a:latin typeface="Aptos"/>
              </a:rPr>
              <a:t>Pendapatan harian capster dicatat setiap hari</a:t>
            </a:r>
          </a:p>
        </p:txBody>
      </p:sp>
      <p:sp>
        <p:nvSpPr>
          <p:cNvPr id="75" name="Oval 74"/>
          <p:cNvSpPr/>
          <p:nvPr/>
        </p:nvSpPr>
        <p:spPr>
          <a:xfrm>
            <a:off x="1005840" y="5257800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225296" y="5175504"/>
            <a:ext cx="9473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182026"/>
                </a:solidFill>
                <a:latin typeface="Aptos"/>
              </a:rPr>
              <a:t>Buku kas umum dan biaya operasional direkap bulanan</a:t>
            </a:r>
          </a:p>
        </p:txBody>
      </p:sp>
      <p:sp>
        <p:nvSpPr>
          <p:cNvPr id="77" name="Oval 76"/>
          <p:cNvSpPr/>
          <p:nvPr/>
        </p:nvSpPr>
        <p:spPr>
          <a:xfrm>
            <a:off x="1005840" y="5678424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225296" y="5596128"/>
            <a:ext cx="94731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182026"/>
                </a:solidFill>
                <a:latin typeface="Aptos"/>
              </a:rPr>
              <a:t>Pembagian hasil membutuhkan perhitungan yang konsisten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Masalah yang Ditemukan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Spreadsheet membantu, tetapi belum cukup aman sebagai pusat data aplikasi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325880"/>
            <a:ext cx="3657600" cy="2331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1453895"/>
            <a:ext cx="3328416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>
                <a:solidFill>
                  <a:srgbClr val="5C6D7B"/>
                </a:solidFill>
                <a:latin typeface="Aptos"/>
              </a:rPr>
              <a:t>Spreadsheet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24128" y="1764792"/>
            <a:ext cx="542544" cy="338328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66672" y="1764792"/>
            <a:ext cx="542544" cy="338328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09216" y="1764792"/>
            <a:ext cx="542544" cy="338328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51760" y="1764792"/>
            <a:ext cx="542544" cy="338328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94304" y="1764792"/>
            <a:ext cx="542544" cy="338328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36848" y="1764792"/>
            <a:ext cx="542544" cy="338328"/>
          </a:xfrm>
          <a:prstGeom prst="rect">
            <a:avLst/>
          </a:prstGeom>
          <a:solidFill>
            <a:srgbClr val="D8F6EE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" y="2103120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66672" y="2103120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09216" y="2103120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51760" y="2103120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94304" y="2103120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36848" y="2103120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24128" y="2441448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66672" y="2441448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09216" y="2441448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2441448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94304" y="2441448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36848" y="2441448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24128" y="2779776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66672" y="2779776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109216" y="2779776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51760" y="2779776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194304" y="2779776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36848" y="2779776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24128" y="3118104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566672" y="3118104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09216" y="3118104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51760" y="3118104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194304" y="3118104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736848" y="3118104"/>
            <a:ext cx="542544" cy="338328"/>
          </a:xfrm>
          <a:prstGeom prst="rect">
            <a:avLst/>
          </a:prstGeom>
          <a:solidFill>
            <a:srgbClr val="FAFCFC"/>
          </a:solidFill>
          <a:ln w="635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803904" y="1444752"/>
            <a:ext cx="384048" cy="384048"/>
          </a:xfrm>
          <a:prstGeom prst="ellipse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03904" y="1583009"/>
            <a:ext cx="384048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!</a:t>
            </a:r>
          </a:p>
        </p:txBody>
      </p:sp>
      <p:sp>
        <p:nvSpPr>
          <p:cNvPr id="43" name="Straight Connector 42"/>
          <p:cNvSpPr/>
          <p:nvPr/>
        </p:nvSpPr>
        <p:spPr>
          <a:xfrm>
            <a:off x="1417320" y="2240280"/>
            <a:ext cx="914400" cy="164592"/>
          </a:xfrm>
          <a:prstGeom prst="lineInv">
            <a:avLst/>
          </a:prstGeom>
          <a:solidFill>
            <a:srgbClr val="E65046"/>
          </a:solidFill>
          <a:ln w="15240">
            <a:solidFill>
              <a:srgbClr val="E65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983480" y="1243584"/>
            <a:ext cx="2651760" cy="1234440"/>
          </a:xfrm>
          <a:prstGeom prst="roundRect">
            <a:avLst/>
          </a:prstGeom>
          <a:solidFill>
            <a:srgbClr val="FFE1DE"/>
          </a:solidFill>
          <a:ln w="15240">
            <a:solidFill>
              <a:srgbClr val="E65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84648" y="1444752"/>
            <a:ext cx="20116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Salah Input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184648" y="1847088"/>
            <a:ext cx="2121408" cy="301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Risiko salah kolom dan data tidak lengkap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20" y="1243584"/>
            <a:ext cx="2651760" cy="1234440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47888" y="1444752"/>
            <a:ext cx="20116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Rumus Terhapus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47888" y="1847088"/>
            <a:ext cx="2121408" cy="301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Perhitungan bisa berubah saat file diedit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83480" y="2962656"/>
            <a:ext cx="2651760" cy="1234440"/>
          </a:xfrm>
          <a:prstGeom prst="roundRect">
            <a:avLst/>
          </a:prstGeom>
          <a:solidFill>
            <a:srgbClr val="E0EDFF"/>
          </a:solidFill>
          <a:ln w="15240">
            <a:solidFill>
              <a:srgbClr val="4C8B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84648" y="3163824"/>
            <a:ext cx="20116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Akses Terbuka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3566160"/>
            <a:ext cx="2121408" cy="301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Belum ada pembatasan role pengguna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46720" y="2962656"/>
            <a:ext cx="2651760" cy="123444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47888" y="3163824"/>
            <a:ext cx="201168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Rekap Lambat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47888" y="3566160"/>
            <a:ext cx="2121408" cy="3017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Laporan bulanan perlu ketelitian tinggi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25780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0C5C56"/>
                </a:solidFill>
                <a:latin typeface="Aptos"/>
              </a:rPr>
              <a:t>Inti masalah: pencatatan pendapatan dan pembagian hasil perlu sistem yang lebih terpusat, tervalidasi, dan dibatasi aksesnya.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Fokus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Bukan aplikasi booking pelanggan, tetapi sistem back-office keuangan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234440"/>
            <a:ext cx="48006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554480"/>
            <a:ext cx="20116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0C5C56"/>
                </a:solidFill>
                <a:latin typeface="Aptos"/>
              </a:rPr>
              <a:t>Yang Dibangun</a:t>
            </a:r>
          </a:p>
        </p:txBody>
      </p:sp>
      <p:sp>
        <p:nvSpPr>
          <p:cNvPr id="11" name="Oval 10"/>
          <p:cNvSpPr/>
          <p:nvPr/>
        </p:nvSpPr>
        <p:spPr>
          <a:xfrm>
            <a:off x="1143000" y="2139696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62456" y="2057400"/>
            <a:ext cx="38039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Login dan role pengguna</a:t>
            </a:r>
          </a:p>
        </p:txBody>
      </p:sp>
      <p:sp>
        <p:nvSpPr>
          <p:cNvPr id="13" name="Oval 12"/>
          <p:cNvSpPr/>
          <p:nvPr/>
        </p:nvSpPr>
        <p:spPr>
          <a:xfrm>
            <a:off x="1143000" y="2578608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2456" y="2496312"/>
            <a:ext cx="38039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Data capster dan layanan</a:t>
            </a:r>
          </a:p>
        </p:txBody>
      </p:sp>
      <p:sp>
        <p:nvSpPr>
          <p:cNvPr id="15" name="Oval 14"/>
          <p:cNvSpPr/>
          <p:nvPr/>
        </p:nvSpPr>
        <p:spPr>
          <a:xfrm>
            <a:off x="1143000" y="3017520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62456" y="2935224"/>
            <a:ext cx="38039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Input pendapatan harian</a:t>
            </a:r>
          </a:p>
        </p:txBody>
      </p:sp>
      <p:sp>
        <p:nvSpPr>
          <p:cNvPr id="17" name="Oval 16"/>
          <p:cNvSpPr/>
          <p:nvPr/>
        </p:nvSpPr>
        <p:spPr>
          <a:xfrm>
            <a:off x="1143000" y="3456432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2456" y="3374136"/>
            <a:ext cx="38039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Buku kas umum</a:t>
            </a:r>
          </a:p>
        </p:txBody>
      </p:sp>
      <p:sp>
        <p:nvSpPr>
          <p:cNvPr id="19" name="Oval 18"/>
          <p:cNvSpPr/>
          <p:nvPr/>
        </p:nvSpPr>
        <p:spPr>
          <a:xfrm>
            <a:off x="1143000" y="3895344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62456" y="3813048"/>
            <a:ext cx="38039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Biaya operasional</a:t>
            </a:r>
          </a:p>
        </p:txBody>
      </p:sp>
      <p:sp>
        <p:nvSpPr>
          <p:cNvPr id="21" name="Oval 20"/>
          <p:cNvSpPr/>
          <p:nvPr/>
        </p:nvSpPr>
        <p:spPr>
          <a:xfrm>
            <a:off x="1143000" y="4334256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2456" y="4251960"/>
            <a:ext cx="380390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Laporan pembagian hasil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1234440"/>
            <a:ext cx="4251960" cy="4297680"/>
          </a:xfrm>
          <a:prstGeom prst="roundRect">
            <a:avLst/>
          </a:prstGeom>
          <a:solidFill>
            <a:srgbClr val="FFE1DE"/>
          </a:solidFill>
          <a:ln w="15240">
            <a:solidFill>
              <a:srgbClr val="E650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1554480"/>
            <a:ext cx="201168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>
                <a:solidFill>
                  <a:srgbClr val="E65046"/>
                </a:solidFill>
                <a:latin typeface="Aptos"/>
              </a:rPr>
              <a:t>Tidak Dibahas</a:t>
            </a:r>
          </a:p>
        </p:txBody>
      </p:sp>
      <p:sp>
        <p:nvSpPr>
          <p:cNvPr id="25" name="Oval 24"/>
          <p:cNvSpPr/>
          <p:nvPr/>
        </p:nvSpPr>
        <p:spPr>
          <a:xfrm>
            <a:off x="6766560" y="2139696"/>
            <a:ext cx="109728" cy="109728"/>
          </a:xfrm>
          <a:prstGeom prst="ellipse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86016" y="2057400"/>
            <a:ext cx="33009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Booking pelanggan</a:t>
            </a:r>
          </a:p>
        </p:txBody>
      </p:sp>
      <p:sp>
        <p:nvSpPr>
          <p:cNvPr id="27" name="Oval 26"/>
          <p:cNvSpPr/>
          <p:nvPr/>
        </p:nvSpPr>
        <p:spPr>
          <a:xfrm>
            <a:off x="6766560" y="2615184"/>
            <a:ext cx="109728" cy="109728"/>
          </a:xfrm>
          <a:prstGeom prst="ellipse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86016" y="2532888"/>
            <a:ext cx="33009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Antrean pelanggan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3090672"/>
            <a:ext cx="109728" cy="109728"/>
          </a:xfrm>
          <a:prstGeom prst="ellipse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86016" y="3008376"/>
            <a:ext cx="33009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Pembayaran online</a:t>
            </a:r>
          </a:p>
        </p:txBody>
      </p:sp>
      <p:sp>
        <p:nvSpPr>
          <p:cNvPr id="31" name="Oval 30"/>
          <p:cNvSpPr/>
          <p:nvPr/>
        </p:nvSpPr>
        <p:spPr>
          <a:xfrm>
            <a:off x="6766560" y="3566160"/>
            <a:ext cx="109728" cy="109728"/>
          </a:xfrm>
          <a:prstGeom prst="ellipse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86016" y="3483864"/>
            <a:ext cx="33009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Sistem kasir penuh</a:t>
            </a:r>
          </a:p>
        </p:txBody>
      </p:sp>
      <p:sp>
        <p:nvSpPr>
          <p:cNvPr id="33" name="Oval 32"/>
          <p:cNvSpPr/>
          <p:nvPr/>
        </p:nvSpPr>
        <p:spPr>
          <a:xfrm>
            <a:off x="6766560" y="4041648"/>
            <a:ext cx="109728" cy="109728"/>
          </a:xfrm>
          <a:prstGeom prst="ellipse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86016" y="3959352"/>
            <a:ext cx="330098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0">
                <a:solidFill>
                  <a:srgbClr val="182026"/>
                </a:solidFill>
                <a:latin typeface="Aptos"/>
              </a:rPr>
              <a:t>Stok produk detail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Penelitian Terkait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Rujukan spesifik aplikasi barbershop Android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280160"/>
            <a:ext cx="480060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78408" y="1481328"/>
            <a:ext cx="438912" cy="438912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639336"/>
            <a:ext cx="438912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3624" y="1463039"/>
            <a:ext cx="31089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1">
                <a:solidFill>
                  <a:srgbClr val="182026"/>
                </a:solidFill>
                <a:latin typeface="Aptos"/>
              </a:rPr>
              <a:t>Refwahajan &amp; Waluyo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63624" y="1801367"/>
            <a:ext cx="35204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Booking layanan dan pemilihan barberman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280160"/>
            <a:ext cx="480060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4807" y="1481328"/>
            <a:ext cx="438912" cy="438912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1639336"/>
            <a:ext cx="438912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0024" y="1463039"/>
            <a:ext cx="31089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1">
                <a:solidFill>
                  <a:srgbClr val="182026"/>
                </a:solidFill>
                <a:latin typeface="Aptos"/>
              </a:rPr>
              <a:t>Rohmat dkk.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0024" y="1801367"/>
            <a:ext cx="35204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Pemesanan online dan Black Box Testing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2606039"/>
            <a:ext cx="480060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78408" y="2807208"/>
            <a:ext cx="438912" cy="438912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2965216"/>
            <a:ext cx="438912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3624" y="2788920"/>
            <a:ext cx="31089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1">
                <a:solidFill>
                  <a:srgbClr val="182026"/>
                </a:solidFill>
                <a:latin typeface="Aptos"/>
              </a:rPr>
              <a:t>Bahtiar dkk.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3624" y="3127247"/>
            <a:ext cx="35204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Informasi layanan dan pemesanan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2606039"/>
            <a:ext cx="4800600" cy="9601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64807" y="2807208"/>
            <a:ext cx="438912" cy="438912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64807" y="2965216"/>
            <a:ext cx="438912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0024" y="2788920"/>
            <a:ext cx="310896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1">
                <a:solidFill>
                  <a:srgbClr val="182026"/>
                </a:solidFill>
                <a:latin typeface="Aptos"/>
              </a:rPr>
              <a:t>Yurindra dkk.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127247"/>
            <a:ext cx="352044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Client-server Android dan antrean real-time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03120" y="4663440"/>
            <a:ext cx="8046720" cy="96012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68880" y="4956048"/>
            <a:ext cx="73152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0C5C56"/>
                </a:solidFill>
                <a:latin typeface="Aptos"/>
              </a:rPr>
              <a:t>Kebaruan: penelitian ini fokus pada pengelolaan internal, pendapatan harian, kas, operasional, role pengguna, dan pembagian hasil capster.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Sistem yang Diusulkan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Aplikasi Android sebagai alat input dan validasi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95728"/>
            <a:ext cx="19202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15768"/>
            <a:ext cx="164592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1">
                <a:solidFill>
                  <a:srgbClr val="182026"/>
                </a:solidFill>
                <a:latin typeface="Aptos"/>
              </a:rPr>
              <a:t>Admin / Admin Harian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2395728"/>
            <a:ext cx="19202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715768"/>
            <a:ext cx="164592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1">
                <a:solidFill>
                  <a:srgbClr val="182026"/>
                </a:solidFill>
                <a:latin typeface="Aptos"/>
              </a:rPr>
              <a:t>Aplikasi Android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2395728"/>
            <a:ext cx="19202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2715768"/>
            <a:ext cx="164592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1">
                <a:solidFill>
                  <a:srgbClr val="182026"/>
                </a:solidFill>
                <a:latin typeface="Aptos"/>
              </a:rPr>
              <a:t>Firebase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395728"/>
            <a:ext cx="192024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715768"/>
            <a:ext cx="164592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250" b="1">
                <a:solidFill>
                  <a:srgbClr val="182026"/>
                </a:solidFill>
                <a:latin typeface="Aptos"/>
              </a:rPr>
              <a:t>Laporan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97480" y="2834640"/>
            <a:ext cx="685800" cy="0"/>
          </a:xfrm>
          <a:prstGeom prst="line">
            <a:avLst/>
          </a:prstGeom>
          <a:ln w="30480">
            <a:solidFill>
              <a:srgbClr val="128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03520" y="2834640"/>
            <a:ext cx="594360" cy="0"/>
          </a:xfrm>
          <a:prstGeom prst="line">
            <a:avLst/>
          </a:prstGeom>
          <a:ln w="30480">
            <a:solidFill>
              <a:srgbClr val="128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818120" y="2834640"/>
            <a:ext cx="594360" cy="0"/>
          </a:xfrm>
          <a:prstGeom prst="line">
            <a:avLst/>
          </a:prstGeom>
          <a:ln w="30480">
            <a:solidFill>
              <a:srgbClr val="128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1193292" y="3657600"/>
            <a:ext cx="370332" cy="370332"/>
          </a:xfrm>
          <a:prstGeom prst="ellipse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1179576" y="3637026"/>
            <a:ext cx="397763" cy="246888"/>
          </a:xfrm>
          <a:prstGeom prst="arc">
            <a:avLst/>
          </a:prstGeom>
          <a:solidFill>
            <a:srgbClr val="2D2623"/>
          </a:solidFill>
          <a:ln w="15240">
            <a:solidFill>
              <a:srgbClr val="2D2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83564" y="4027932"/>
            <a:ext cx="589788" cy="651509"/>
          </a:xfrm>
          <a:prstGeom prst="roundRect">
            <a:avLst/>
          </a:prstGeom>
          <a:solidFill>
            <a:srgbClr val="128076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4712" y="4604004"/>
            <a:ext cx="164592" cy="377190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453896" y="4604004"/>
            <a:ext cx="164592" cy="377190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73836" y="4171950"/>
            <a:ext cx="219456" cy="150876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591056" y="4171950"/>
            <a:ext cx="219456" cy="150876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2688" y="4329684"/>
            <a:ext cx="932688" cy="342900"/>
          </a:xfrm>
          <a:prstGeom prst="roundRect">
            <a:avLst/>
          </a:prstGeom>
          <a:solidFill>
            <a:srgbClr val="E0EDFF"/>
          </a:solidFill>
          <a:ln w="15240">
            <a:solidFill>
              <a:srgbClr val="4C8B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7008" y="4453128"/>
            <a:ext cx="342900" cy="6172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00" b="1">
                <a:solidFill>
                  <a:srgbClr val="4C8BF5"/>
                </a:solidFill>
                <a:latin typeface="Aptos"/>
              </a:rPr>
              <a:t>APP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84448" y="3657600"/>
            <a:ext cx="1066556" cy="1988271"/>
          </a:xfrm>
          <a:prstGeom prst="roundRect">
            <a:avLst/>
          </a:prstGeom>
          <a:solidFill>
            <a:srgbClr val="18202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70035" y="3802440"/>
            <a:ext cx="895380" cy="1718340"/>
          </a:xfrm>
          <a:prstGeom prst="roundRect">
            <a:avLst/>
          </a:prstGeom>
          <a:solidFill>
            <a:srgbClr val="FFFFFF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29288" y="3907779"/>
            <a:ext cx="724204" cy="10533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40" b="1">
                <a:solidFill>
                  <a:srgbClr val="182026"/>
                </a:solidFill>
                <a:latin typeface="Aptos"/>
              </a:rPr>
              <a:t>Input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742456" y="4138208"/>
            <a:ext cx="743955" cy="171175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95125" y="4181002"/>
            <a:ext cx="645200" cy="5266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8" b="0">
                <a:solidFill>
                  <a:srgbClr val="0C5C56"/>
                </a:solidFill>
                <a:latin typeface="Aptos"/>
              </a:rPr>
              <a:t>Transaksi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42456" y="4388388"/>
            <a:ext cx="743955" cy="171175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5125" y="4431182"/>
            <a:ext cx="645200" cy="5266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8" b="0">
                <a:solidFill>
                  <a:srgbClr val="5C6D7B"/>
                </a:solidFill>
                <a:latin typeface="Aptos"/>
              </a:rPr>
              <a:t>Kas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742456" y="4638568"/>
            <a:ext cx="743955" cy="171175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95125" y="4681362"/>
            <a:ext cx="645200" cy="5266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8" b="0">
                <a:solidFill>
                  <a:srgbClr val="5C6D7B"/>
                </a:solidFill>
                <a:latin typeface="Aptos"/>
              </a:rPr>
              <a:t>Operasional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742456" y="5264017"/>
            <a:ext cx="743955" cy="144840"/>
          </a:xfrm>
          <a:prstGeom prst="round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loud 38"/>
          <p:cNvSpPr/>
          <p:nvPr/>
        </p:nvSpPr>
        <p:spPr>
          <a:xfrm>
            <a:off x="5989320" y="3886200"/>
            <a:ext cx="1612087" cy="839784"/>
          </a:xfrm>
          <a:prstGeom prst="cloud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4239" y="4186123"/>
            <a:ext cx="937259" cy="104973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2" b="1">
                <a:solidFill>
                  <a:srgbClr val="182026"/>
                </a:solidFill>
                <a:latin typeface="Aptos"/>
              </a:rPr>
              <a:t>Firebase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49640" y="3703320"/>
            <a:ext cx="1645920" cy="105156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51392" y="3977639"/>
            <a:ext cx="10058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1">
                <a:solidFill>
                  <a:srgbClr val="0C5C56"/>
                </a:solidFill>
                <a:latin typeface="Aptos"/>
              </a:rPr>
              <a:t>Rekap</a:t>
            </a:r>
            <a:br/>
            <a:r>
              <a:rPr sz="1300" b="1">
                <a:solidFill>
                  <a:srgbClr val="0C5C56"/>
                </a:solidFill>
                <a:latin typeface="Aptos"/>
              </a:rPr>
              <a:t>Bagi Hasil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5623560"/>
            <a:ext cx="96012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5C6D7B"/>
                </a:solidFill>
                <a:latin typeface="Aptos"/>
              </a:rPr>
              <a:t>Setiap simpan, ubah, hapus, dan tampil data langsung terhubung ke Firebase. Tidak ada menu sinkronisasi manual.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Role Pengguna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Hak akses dibuat jelas agar data tidak mudah dimanipulasi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08</a:t>
            </a:r>
          </a:p>
        </p:txBody>
      </p:sp>
      <p:sp>
        <p:nvSpPr>
          <p:cNvPr id="9" name="Oval 8"/>
          <p:cNvSpPr/>
          <p:nvPr/>
        </p:nvSpPr>
        <p:spPr>
          <a:xfrm>
            <a:off x="1605686" y="1417320"/>
            <a:ext cx="444398" cy="444398"/>
          </a:xfrm>
          <a:prstGeom prst="ellipse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589227" y="1392631"/>
            <a:ext cx="477316" cy="296265"/>
          </a:xfrm>
          <a:prstGeom prst="arc">
            <a:avLst/>
          </a:prstGeom>
          <a:solidFill>
            <a:srgbClr val="2D2623"/>
          </a:solidFill>
          <a:ln w="15240">
            <a:solidFill>
              <a:srgbClr val="2D2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74012" y="1861718"/>
            <a:ext cx="707745" cy="781812"/>
          </a:xfrm>
          <a:prstGeom prst="roundRect">
            <a:avLst/>
          </a:prstGeom>
          <a:solidFill>
            <a:srgbClr val="128076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23390" y="2553004"/>
            <a:ext cx="197510" cy="452628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18411" y="2553004"/>
            <a:ext cx="197510" cy="452628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342339" y="2034540"/>
            <a:ext cx="263347" cy="181051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083003" y="2034540"/>
            <a:ext cx="263347" cy="181051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292961" y="2223820"/>
            <a:ext cx="1119225" cy="411480"/>
          </a:xfrm>
          <a:prstGeom prst="roundRect">
            <a:avLst/>
          </a:prstGeom>
          <a:solidFill>
            <a:srgbClr val="E0EDFF"/>
          </a:solidFill>
          <a:ln w="15240">
            <a:solidFill>
              <a:srgbClr val="4C8B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22145" y="2371953"/>
            <a:ext cx="411480" cy="7406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00" b="1">
                <a:solidFill>
                  <a:srgbClr val="4C8BF5"/>
                </a:solidFill>
                <a:latin typeface="Aptos"/>
              </a:rPr>
              <a:t>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703320"/>
            <a:ext cx="21488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91363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182026"/>
                </a:solidFill>
                <a:latin typeface="Aptos"/>
              </a:rPr>
              <a:t>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279392"/>
            <a:ext cx="1600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5C6D7B"/>
                </a:solidFill>
                <a:latin typeface="Aptos"/>
              </a:rPr>
              <a:t>Kelola semua data dan akun</a:t>
            </a:r>
          </a:p>
        </p:txBody>
      </p:sp>
      <p:sp>
        <p:nvSpPr>
          <p:cNvPr id="21" name="Oval 20"/>
          <p:cNvSpPr/>
          <p:nvPr/>
        </p:nvSpPr>
        <p:spPr>
          <a:xfrm>
            <a:off x="4394606" y="1417320"/>
            <a:ext cx="444398" cy="444398"/>
          </a:xfrm>
          <a:prstGeom prst="ellipse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378147" y="1392631"/>
            <a:ext cx="477316" cy="296265"/>
          </a:xfrm>
          <a:prstGeom prst="arc">
            <a:avLst/>
          </a:prstGeom>
          <a:solidFill>
            <a:srgbClr val="2D2623"/>
          </a:solidFill>
          <a:ln w="15240">
            <a:solidFill>
              <a:srgbClr val="2D2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62932" y="1861718"/>
            <a:ext cx="707745" cy="781812"/>
          </a:xfrm>
          <a:prstGeom prst="roundRect">
            <a:avLst/>
          </a:prstGeom>
          <a:solidFill>
            <a:srgbClr val="ECAE4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2310" y="2553004"/>
            <a:ext cx="197510" cy="452628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07331" y="2553004"/>
            <a:ext cx="197510" cy="452628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131259" y="2034540"/>
            <a:ext cx="263347" cy="181051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871923" y="2034540"/>
            <a:ext cx="263347" cy="181051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081881" y="2223820"/>
            <a:ext cx="1119225" cy="411480"/>
          </a:xfrm>
          <a:prstGeom prst="roundRect">
            <a:avLst/>
          </a:prstGeom>
          <a:solidFill>
            <a:srgbClr val="E0EDFF"/>
          </a:solidFill>
          <a:ln w="15240">
            <a:solidFill>
              <a:srgbClr val="4C8B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11065" y="2371953"/>
            <a:ext cx="411480" cy="7406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600" b="1">
                <a:solidFill>
                  <a:srgbClr val="4C8BF5"/>
                </a:solidFill>
                <a:latin typeface="Aptos"/>
              </a:rPr>
              <a:t>APP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11879" y="3703320"/>
            <a:ext cx="21488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76472" y="391363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182026"/>
                </a:solidFill>
                <a:latin typeface="Aptos"/>
              </a:rPr>
              <a:t>Admin Harian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67911" y="4279392"/>
            <a:ext cx="1600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5C6D7B"/>
                </a:solidFill>
                <a:latin typeface="Aptos"/>
              </a:rPr>
              <a:t>Capster senior yang input transaksi</a:t>
            </a:r>
          </a:p>
        </p:txBody>
      </p:sp>
      <p:sp>
        <p:nvSpPr>
          <p:cNvPr id="33" name="Oval 32"/>
          <p:cNvSpPr/>
          <p:nvPr/>
        </p:nvSpPr>
        <p:spPr>
          <a:xfrm>
            <a:off x="7183526" y="1417320"/>
            <a:ext cx="444398" cy="444398"/>
          </a:xfrm>
          <a:prstGeom prst="ellipse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rc 33"/>
          <p:cNvSpPr/>
          <p:nvPr/>
        </p:nvSpPr>
        <p:spPr>
          <a:xfrm>
            <a:off x="7167067" y="1392631"/>
            <a:ext cx="477316" cy="296265"/>
          </a:xfrm>
          <a:prstGeom prst="arc">
            <a:avLst/>
          </a:prstGeom>
          <a:solidFill>
            <a:srgbClr val="2D2623"/>
          </a:solidFill>
          <a:ln w="15240">
            <a:solidFill>
              <a:srgbClr val="2D2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51852" y="1861718"/>
            <a:ext cx="707745" cy="781812"/>
          </a:xfrm>
          <a:prstGeom prst="roundRect">
            <a:avLst/>
          </a:prstGeom>
          <a:solidFill>
            <a:srgbClr val="4C8BF5"/>
          </a:solidFill>
          <a:ln w="15240">
            <a:solidFill>
              <a:srgbClr val="4C8B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01230" y="2553004"/>
            <a:ext cx="197510" cy="452628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6251" y="2553004"/>
            <a:ext cx="197510" cy="452628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920179" y="2034540"/>
            <a:ext cx="263347" cy="181051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660843" y="2034540"/>
            <a:ext cx="263347" cy="181051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0" y="3703320"/>
            <a:ext cx="21488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C8B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391363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182026"/>
                </a:solidFill>
                <a:latin typeface="Aptos"/>
              </a:rPr>
              <a:t>Capster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56832" y="4279392"/>
            <a:ext cx="1600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5C6D7B"/>
                </a:solidFill>
                <a:latin typeface="Aptos"/>
              </a:rPr>
              <a:t>Hanya melihat laporan miliknya</a:t>
            </a:r>
          </a:p>
        </p:txBody>
      </p:sp>
      <p:sp>
        <p:nvSpPr>
          <p:cNvPr id="43" name="Oval 42"/>
          <p:cNvSpPr/>
          <p:nvPr/>
        </p:nvSpPr>
        <p:spPr>
          <a:xfrm>
            <a:off x="9972446" y="1417320"/>
            <a:ext cx="444398" cy="444398"/>
          </a:xfrm>
          <a:prstGeom prst="ellipse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Arc 43"/>
          <p:cNvSpPr/>
          <p:nvPr/>
        </p:nvSpPr>
        <p:spPr>
          <a:xfrm>
            <a:off x="9955987" y="1392631"/>
            <a:ext cx="477316" cy="296265"/>
          </a:xfrm>
          <a:prstGeom prst="arc">
            <a:avLst/>
          </a:prstGeom>
          <a:solidFill>
            <a:srgbClr val="2D2623"/>
          </a:solidFill>
          <a:ln w="15240">
            <a:solidFill>
              <a:srgbClr val="2D2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840772" y="1861718"/>
            <a:ext cx="707745" cy="781812"/>
          </a:xfrm>
          <a:prstGeom prst="roundRect">
            <a:avLst/>
          </a:prstGeom>
          <a:solidFill>
            <a:srgbClr val="7C5ED2"/>
          </a:solidFill>
          <a:ln w="15240">
            <a:solidFill>
              <a:srgbClr val="7C5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890150" y="2553004"/>
            <a:ext cx="197510" cy="452628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285171" y="2553004"/>
            <a:ext cx="197510" cy="452628"/>
          </a:xfrm>
          <a:prstGeom prst="rect">
            <a:avLst/>
          </a:prstGeom>
          <a:solidFill>
            <a:srgbClr val="182026"/>
          </a:solidFill>
          <a:ln w="15240">
            <a:solidFill>
              <a:srgbClr val="18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709099" y="2034540"/>
            <a:ext cx="263347" cy="181051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449763" y="2034540"/>
            <a:ext cx="263347" cy="181051"/>
          </a:xfrm>
          <a:prstGeom prst="roundRect">
            <a:avLst/>
          </a:prstGeom>
          <a:solidFill>
            <a:srgbClr val="F4BE96"/>
          </a:solidFill>
          <a:ln w="15240">
            <a:solidFill>
              <a:srgbClr val="F4BE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89719" y="3703320"/>
            <a:ext cx="214884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5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54311" y="391363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1">
                <a:solidFill>
                  <a:srgbClr val="182026"/>
                </a:solidFill>
                <a:latin typeface="Aptos"/>
              </a:rPr>
              <a:t>Pemilik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45751" y="4279392"/>
            <a:ext cx="160020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>
                <a:solidFill>
                  <a:srgbClr val="5C6D7B"/>
                </a:solidFill>
                <a:latin typeface="Aptos"/>
              </a:rPr>
              <a:t>Memantau laporan dan kas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Fitur Utama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Fitur dibuat ringkas sesuai kebutuhan operasional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234440"/>
            <a:ext cx="3063240" cy="91440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87552" y="1444752"/>
            <a:ext cx="384048" cy="38404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1583009"/>
            <a:ext cx="384048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7048" y="1563624"/>
            <a:ext cx="1920240" cy="1554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Login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234440"/>
            <a:ext cx="3063240" cy="914400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45152" y="1444752"/>
            <a:ext cx="384048" cy="384048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583009"/>
            <a:ext cx="384048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4648" y="1563624"/>
            <a:ext cx="1920240" cy="1554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Akun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234440"/>
            <a:ext cx="3063240" cy="91440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444752"/>
            <a:ext cx="384048" cy="38404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583009"/>
            <a:ext cx="384048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42248" y="1563624"/>
            <a:ext cx="1920240" cy="1554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Capster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2587752"/>
            <a:ext cx="3063240" cy="914400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87552" y="2798064"/>
            <a:ext cx="384048" cy="384048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2936321"/>
            <a:ext cx="384048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7048" y="2916936"/>
            <a:ext cx="1920240" cy="1554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Layanan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2587752"/>
            <a:ext cx="3063240" cy="91440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45152" y="2798064"/>
            <a:ext cx="384048" cy="38404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2" y="2936321"/>
            <a:ext cx="384048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4648" y="2916936"/>
            <a:ext cx="1920240" cy="1554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Pendapatan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2587752"/>
            <a:ext cx="3063240" cy="914400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02752" y="2798064"/>
            <a:ext cx="384048" cy="384048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02752" y="2936321"/>
            <a:ext cx="384048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42248" y="2916936"/>
            <a:ext cx="1920240" cy="1554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Buku Kas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3941064"/>
            <a:ext cx="3063240" cy="91440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87552" y="4151376"/>
            <a:ext cx="384048" cy="38404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4289633"/>
            <a:ext cx="384048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7048" y="4270248"/>
            <a:ext cx="1920240" cy="1554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Operasional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34840" y="3941064"/>
            <a:ext cx="3063240" cy="914400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645152" y="4151376"/>
            <a:ext cx="384048" cy="384048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45152" y="4289633"/>
            <a:ext cx="384048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4648" y="4270248"/>
            <a:ext cx="1920240" cy="1554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Laporan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3941064"/>
            <a:ext cx="3063240" cy="91440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302752" y="4151376"/>
            <a:ext cx="384048" cy="38404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02752" y="4289633"/>
            <a:ext cx="384048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4270248"/>
            <a:ext cx="1920240" cy="1554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1">
                <a:solidFill>
                  <a:srgbClr val="182026"/>
                </a:solidFill>
                <a:latin typeface="Aptos"/>
              </a:rPr>
              <a:t>Bagi Hasil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Rumus Pembagian Hasil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Perhitungan dibuat otomatis agar laporan konsisten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325880"/>
            <a:ext cx="2880360" cy="114300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00200"/>
            <a:ext cx="219456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700" b="1">
                <a:solidFill>
                  <a:srgbClr val="0C5C56"/>
                </a:solidFill>
                <a:latin typeface="Aptos"/>
              </a:rPr>
              <a:t>Pendapatan Kotor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94760" y="1874519"/>
            <a:ext cx="914400" cy="0"/>
          </a:xfrm>
          <a:prstGeom prst="line">
            <a:avLst/>
          </a:prstGeom>
          <a:ln w="30480">
            <a:solidFill>
              <a:srgbClr val="128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800600" y="1325880"/>
            <a:ext cx="2880360" cy="1143000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75504" y="1572768"/>
            <a:ext cx="210312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182026"/>
                </a:solidFill>
                <a:latin typeface="Aptos"/>
              </a:rPr>
              <a:t>− Operasional</a:t>
            </a:r>
            <a:br/>
            <a:r>
              <a:rPr sz="1600" b="1">
                <a:solidFill>
                  <a:srgbClr val="182026"/>
                </a:solidFill>
                <a:latin typeface="Aptos"/>
              </a:rPr>
              <a:t>per Capster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0" y="1874519"/>
            <a:ext cx="914400" cy="0"/>
          </a:xfrm>
          <a:prstGeom prst="line">
            <a:avLst/>
          </a:prstGeom>
          <a:ln w="30480">
            <a:solidFill>
              <a:srgbClr val="128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778240" y="1325880"/>
            <a:ext cx="251460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572768"/>
            <a:ext cx="164592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0C5C56"/>
                </a:solidFill>
                <a:latin typeface="Aptos"/>
              </a:rPr>
              <a:t>Pendapatan</a:t>
            </a:r>
            <a:br/>
            <a:r>
              <a:rPr sz="1600" b="1">
                <a:solidFill>
                  <a:srgbClr val="0C5C56"/>
                </a:solidFill>
                <a:latin typeface="Aptos"/>
              </a:rPr>
              <a:t>Bersih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3840480"/>
            <a:ext cx="2240280" cy="105156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3904" y="4041648"/>
            <a:ext cx="11887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900" b="1">
                <a:solidFill>
                  <a:srgbClr val="0C5C56"/>
                </a:solidFill>
                <a:latin typeface="Aptos"/>
              </a:rPr>
              <a:t>50%</a:t>
            </a:r>
            <a:br/>
            <a:r>
              <a:rPr sz="1900" b="1">
                <a:solidFill>
                  <a:srgbClr val="0C5C56"/>
                </a:solidFill>
                <a:latin typeface="Aptos"/>
              </a:rPr>
              <a:t>Capster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0" y="3840480"/>
            <a:ext cx="2240280" cy="1051560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14032" y="4041648"/>
            <a:ext cx="11887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900" b="1">
                <a:solidFill>
                  <a:srgbClr val="182026"/>
                </a:solidFill>
                <a:latin typeface="Aptos"/>
              </a:rPr>
              <a:t>50%</a:t>
            </a:r>
            <a:br/>
            <a:r>
              <a:rPr sz="1900" b="1">
                <a:solidFill>
                  <a:srgbClr val="182026"/>
                </a:solidFill>
                <a:latin typeface="Aptos"/>
              </a:rPr>
              <a:t>Pondok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955279" y="2468880"/>
            <a:ext cx="2057401" cy="1371600"/>
          </a:xfrm>
          <a:prstGeom prst="line">
            <a:avLst/>
          </a:prstGeom>
          <a:ln w="30480">
            <a:solidFill>
              <a:srgbClr val="ECAE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54880" y="2468880"/>
            <a:ext cx="5257800" cy="1371600"/>
          </a:xfrm>
          <a:prstGeom prst="line">
            <a:avLst/>
          </a:prstGeom>
          <a:ln w="30480">
            <a:solidFill>
              <a:srgbClr val="1280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88720" y="5577840"/>
            <a:ext cx="97840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5C6D7B"/>
                </a:solidFill>
                <a:latin typeface="Aptos"/>
              </a:rPr>
              <a:t>Contoh: Rp1.809.000 − Rp526.540 = Rp1.282.460 → Rp641.230 untuk capster dan Rp641.230 untuk pondok.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Teknologi yang Digunakan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Teknologi dipilih sesuai kebutuhan aplikasi mobile dan data terpusat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325880"/>
            <a:ext cx="306324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1581912"/>
            <a:ext cx="457200" cy="457200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746504"/>
            <a:ext cx="45720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158191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1">
                <a:solidFill>
                  <a:srgbClr val="182026"/>
                </a:solidFill>
                <a:latin typeface="Aptos"/>
              </a:rPr>
              <a:t>Flutter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1920240"/>
            <a:ext cx="1874519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Framework aplikasi Android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325880"/>
            <a:ext cx="306324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09160" y="1581912"/>
            <a:ext cx="457200" cy="457200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9160" y="1746504"/>
            <a:ext cx="45720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58191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1">
                <a:solidFill>
                  <a:srgbClr val="182026"/>
                </a:solidFill>
                <a:latin typeface="Aptos"/>
              </a:rPr>
              <a:t>Dart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920240"/>
            <a:ext cx="1874519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Bahasa pemrograman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1325880"/>
            <a:ext cx="306324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C8B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66760" y="1581912"/>
            <a:ext cx="457200" cy="457200"/>
          </a:xfrm>
          <a:prstGeom prst="ellipse">
            <a:avLst/>
          </a:prstGeom>
          <a:solidFill>
            <a:srgbClr val="4C8BF5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1746504"/>
            <a:ext cx="45720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158191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1">
                <a:solidFill>
                  <a:srgbClr val="182026"/>
                </a:solidFill>
                <a:latin typeface="Aptos"/>
              </a:rPr>
              <a:t>Firebase 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1920240"/>
            <a:ext cx="1874519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Login dan role pengguna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2926080"/>
            <a:ext cx="306324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7C5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1560" y="3182112"/>
            <a:ext cx="457200" cy="457200"/>
          </a:xfrm>
          <a:prstGeom prst="ellipse">
            <a:avLst/>
          </a:prstGeom>
          <a:solidFill>
            <a:srgbClr val="7C5ED2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346704"/>
            <a:ext cx="45720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18211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1">
                <a:solidFill>
                  <a:srgbClr val="182026"/>
                </a:solidFill>
                <a:latin typeface="Aptos"/>
              </a:rPr>
              <a:t>Cloud Firestore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3520440"/>
            <a:ext cx="1874519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Database online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2926080"/>
            <a:ext cx="306324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09160" y="3182112"/>
            <a:ext cx="457200" cy="457200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9160" y="3346704"/>
            <a:ext cx="45720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318211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1">
                <a:solidFill>
                  <a:srgbClr val="182026"/>
                </a:solidFill>
                <a:latin typeface="Aptos"/>
              </a:rPr>
              <a:t>Figma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3520440"/>
            <a:ext cx="1874519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Rancangan antarmuka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2926080"/>
            <a:ext cx="3063240" cy="1143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6760" y="3182112"/>
            <a:ext cx="457200" cy="457200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60" y="3346704"/>
            <a:ext cx="45720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3182112"/>
            <a:ext cx="17830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50" b="1">
                <a:solidFill>
                  <a:srgbClr val="182026"/>
                </a:solidFill>
                <a:latin typeface="Aptos"/>
              </a:rPr>
              <a:t>Draw.io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1120" y="3520440"/>
            <a:ext cx="1874519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50" b="0">
                <a:solidFill>
                  <a:srgbClr val="5C6D7B"/>
                </a:solidFill>
                <a:latin typeface="Aptos"/>
              </a:rPr>
              <a:t>Pemodelan diagram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Metode Pengembangan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Waterfall menurut Sommerville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12</a:t>
            </a:r>
          </a:p>
        </p:txBody>
      </p:sp>
      <p:pic>
        <p:nvPicPr>
          <p:cNvPr id="9" name="Picture 8" descr="gambar_2_1_waterf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166360" cy="313671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92240" y="1143000"/>
            <a:ext cx="3840480" cy="53035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307592"/>
            <a:ext cx="310896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0C5C56"/>
                </a:solidFill>
                <a:latin typeface="Aptos"/>
              </a:rPr>
              <a:t>1. Analisis kebutuhan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920240"/>
            <a:ext cx="3840480" cy="5303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084831"/>
            <a:ext cx="310896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82026"/>
                </a:solidFill>
                <a:latin typeface="Aptos"/>
              </a:rPr>
              <a:t>2. Perancangan sistem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697480"/>
            <a:ext cx="3840480" cy="53035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862072"/>
            <a:ext cx="310896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0C5C56"/>
                </a:solidFill>
                <a:latin typeface="Aptos"/>
              </a:rPr>
              <a:t>3. Implementasi aplikasi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474720"/>
            <a:ext cx="3840480" cy="53035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20840" y="3639311"/>
            <a:ext cx="310896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182026"/>
                </a:solidFill>
                <a:latin typeface="Aptos"/>
              </a:rPr>
              <a:t>4. Pengujian sistem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4251960"/>
            <a:ext cx="3840480" cy="53035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20840" y="4416552"/>
            <a:ext cx="3108960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>
                <a:solidFill>
                  <a:srgbClr val="0C5C56"/>
                </a:solidFill>
                <a:latin typeface="Aptos"/>
              </a:rPr>
              <a:t>5. Pemeliharaan sistem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5349240"/>
            <a:ext cx="40690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5C6D7B"/>
                </a:solidFill>
                <a:latin typeface="Aptos"/>
              </a:rPr>
              <a:t>Waterfall dipilih karena kebutuhan aplikasi dapat diidentifikasi sejak awal dari proses operasional Garden Barbershop.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Tahapan Penelitian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Alur penelitian dari identifikasi masalah sampai laporan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13</a:t>
            </a:r>
          </a:p>
        </p:txBody>
      </p:sp>
      <p:pic>
        <p:nvPicPr>
          <p:cNvPr id="9" name="Picture 8" descr="gambar_3_1_tahap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88720"/>
            <a:ext cx="5486400" cy="333102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29400" y="1417320"/>
            <a:ext cx="4251960" cy="3474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737360"/>
            <a:ext cx="23774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1">
                <a:solidFill>
                  <a:srgbClr val="0C5C56"/>
                </a:solidFill>
                <a:latin typeface="Aptos"/>
              </a:rPr>
              <a:t>Data yang Digunakan</a:t>
            </a:r>
          </a:p>
        </p:txBody>
      </p:sp>
      <p:sp>
        <p:nvSpPr>
          <p:cNvPr id="12" name="Oval 11"/>
          <p:cNvSpPr/>
          <p:nvPr/>
        </p:nvSpPr>
        <p:spPr>
          <a:xfrm>
            <a:off x="6949440" y="2322576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68896" y="2240280"/>
            <a:ext cx="32095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182026"/>
                </a:solidFill>
                <a:latin typeface="Aptos"/>
              </a:rPr>
              <a:t>Observasi proses berjalan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0" y="2743200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68896" y="2660904"/>
            <a:ext cx="32095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182026"/>
                </a:solidFill>
                <a:latin typeface="Aptos"/>
              </a:rPr>
              <a:t>Wawancara pengelola</a:t>
            </a:r>
          </a:p>
        </p:txBody>
      </p:sp>
      <p:sp>
        <p:nvSpPr>
          <p:cNvPr id="16" name="Oval 15"/>
          <p:cNvSpPr/>
          <p:nvPr/>
        </p:nvSpPr>
        <p:spPr>
          <a:xfrm>
            <a:off x="6949440" y="3163824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68896" y="3081528"/>
            <a:ext cx="32095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182026"/>
                </a:solidFill>
                <a:latin typeface="Aptos"/>
              </a:rPr>
              <a:t>Studi pustaka</a:t>
            </a:r>
          </a:p>
        </p:txBody>
      </p:sp>
      <p:sp>
        <p:nvSpPr>
          <p:cNvPr id="18" name="Oval 17"/>
          <p:cNvSpPr/>
          <p:nvPr/>
        </p:nvSpPr>
        <p:spPr>
          <a:xfrm>
            <a:off x="6949440" y="3584448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8896" y="3502152"/>
            <a:ext cx="32095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182026"/>
                </a:solidFill>
                <a:latin typeface="Aptos"/>
              </a:rPr>
              <a:t>Dokumentasi laporan Mei 2026</a:t>
            </a:r>
          </a:p>
        </p:txBody>
      </p:sp>
      <p:sp>
        <p:nvSpPr>
          <p:cNvPr id="20" name="Oval 19"/>
          <p:cNvSpPr/>
          <p:nvPr/>
        </p:nvSpPr>
        <p:spPr>
          <a:xfrm>
            <a:off x="6949440" y="4005072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3922776"/>
            <a:ext cx="320954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50" b="0">
                <a:solidFill>
                  <a:srgbClr val="182026"/>
                </a:solidFill>
                <a:latin typeface="Aptos"/>
              </a:rPr>
              <a:t>Data capster, layanan, kas, dan operasional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Gambaran Antarmuka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Desain dibuat mobile-first dan mudah dipakai di lokasi barbershop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417320"/>
            <a:ext cx="1451701" cy="2706258"/>
          </a:xfrm>
          <a:prstGeom prst="roundRect">
            <a:avLst/>
          </a:prstGeom>
          <a:solidFill>
            <a:srgbClr val="18202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3734" y="1614464"/>
            <a:ext cx="1218712" cy="2338852"/>
          </a:xfrm>
          <a:prstGeom prst="roundRect">
            <a:avLst/>
          </a:prstGeom>
          <a:solidFill>
            <a:srgbClr val="FFFFFF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4384" y="1757842"/>
            <a:ext cx="985723" cy="1433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35" b="1">
                <a:solidFill>
                  <a:srgbClr val="182026"/>
                </a:solidFill>
                <a:latin typeface="Aptos"/>
              </a:rPr>
              <a:t>Login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306" y="2071481"/>
            <a:ext cx="1012606" cy="232989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3995" y="2129729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0C5C56"/>
                </a:solidFill>
                <a:latin typeface="Aptos"/>
              </a:rPr>
              <a:t>Username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2306" y="2412004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3995" y="2470251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Password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2306" y="2752526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3995" y="2810774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Masuk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2306" y="3603833"/>
            <a:ext cx="1012606" cy="197144"/>
          </a:xfrm>
          <a:prstGeom prst="round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788920" y="1417320"/>
            <a:ext cx="1451701" cy="2706258"/>
          </a:xfrm>
          <a:prstGeom prst="roundRect">
            <a:avLst/>
          </a:prstGeom>
          <a:solidFill>
            <a:srgbClr val="18202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05414" y="1614464"/>
            <a:ext cx="1218712" cy="2338852"/>
          </a:xfrm>
          <a:prstGeom prst="roundRect">
            <a:avLst/>
          </a:prstGeom>
          <a:solidFill>
            <a:srgbClr val="FFFFFF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86064" y="1757842"/>
            <a:ext cx="985723" cy="1433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35" b="1">
                <a:solidFill>
                  <a:srgbClr val="182026"/>
                </a:solidFill>
                <a:latin typeface="Aptos"/>
              </a:rPr>
              <a:t>Dashboard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03986" y="2071481"/>
            <a:ext cx="1012606" cy="232989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75675" y="2129729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0C5C56"/>
                </a:solidFill>
                <a:latin typeface="Aptos"/>
              </a:rPr>
              <a:t>Total Bulan Ini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03986" y="2412004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75675" y="2470251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Kas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03986" y="2752526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75675" y="2810774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Operasional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03986" y="3093049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075675" y="3151296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Laporan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03986" y="3603833"/>
            <a:ext cx="1012606" cy="197144"/>
          </a:xfrm>
          <a:prstGeom prst="roundRect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800600" y="1417320"/>
            <a:ext cx="1451701" cy="2706258"/>
          </a:xfrm>
          <a:prstGeom prst="roundRect">
            <a:avLst/>
          </a:prstGeom>
          <a:solidFill>
            <a:srgbClr val="18202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917094" y="1614464"/>
            <a:ext cx="1218712" cy="2338852"/>
          </a:xfrm>
          <a:prstGeom prst="roundRect">
            <a:avLst/>
          </a:prstGeom>
          <a:solidFill>
            <a:srgbClr val="FFFFFF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97744" y="1757842"/>
            <a:ext cx="985723" cy="1433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35" b="1">
                <a:solidFill>
                  <a:srgbClr val="182026"/>
                </a:solidFill>
                <a:latin typeface="Aptos"/>
              </a:rPr>
              <a:t>Pendapatan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15666" y="2071481"/>
            <a:ext cx="1012606" cy="232989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87355" y="2129729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0C5C56"/>
                </a:solidFill>
                <a:latin typeface="Aptos"/>
              </a:rPr>
              <a:t>Tanggal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15666" y="2412004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87355" y="2470251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Capster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15666" y="2752526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87355" y="2810774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Layanan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15666" y="3093049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7355" y="3151296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Total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15666" y="3603833"/>
            <a:ext cx="1012606" cy="197144"/>
          </a:xfrm>
          <a:prstGeom prst="round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812280" y="1417320"/>
            <a:ext cx="1451701" cy="2706258"/>
          </a:xfrm>
          <a:prstGeom prst="roundRect">
            <a:avLst/>
          </a:prstGeom>
          <a:solidFill>
            <a:srgbClr val="18202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928774" y="1614464"/>
            <a:ext cx="1218712" cy="2338852"/>
          </a:xfrm>
          <a:prstGeom prst="roundRect">
            <a:avLst/>
          </a:prstGeom>
          <a:solidFill>
            <a:srgbClr val="FFFFFF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009424" y="1757842"/>
            <a:ext cx="985723" cy="1433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35" b="1">
                <a:solidFill>
                  <a:srgbClr val="182026"/>
                </a:solidFill>
                <a:latin typeface="Aptos"/>
              </a:rPr>
              <a:t>Buku Kas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027346" y="2071481"/>
            <a:ext cx="1012606" cy="232989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99035" y="2129729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0C5C56"/>
                </a:solidFill>
                <a:latin typeface="Aptos"/>
              </a:rPr>
              <a:t>Uraian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27346" y="2412004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99035" y="2470251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Akun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27346" y="2752526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99035" y="2810774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Penerimaan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027346" y="3093049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99035" y="3151296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Saldo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027346" y="3603833"/>
            <a:ext cx="1012606" cy="197144"/>
          </a:xfrm>
          <a:prstGeom prst="roundRect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823960" y="1417320"/>
            <a:ext cx="1451701" cy="2706258"/>
          </a:xfrm>
          <a:prstGeom prst="roundRect">
            <a:avLst/>
          </a:prstGeom>
          <a:solidFill>
            <a:srgbClr val="18202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940454" y="1614464"/>
            <a:ext cx="1218712" cy="2338852"/>
          </a:xfrm>
          <a:prstGeom prst="roundRect">
            <a:avLst/>
          </a:prstGeom>
          <a:solidFill>
            <a:srgbClr val="FFFFFF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21104" y="1757842"/>
            <a:ext cx="985723" cy="1433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35" b="1">
                <a:solidFill>
                  <a:srgbClr val="182026"/>
                </a:solidFill>
                <a:latin typeface="Aptos"/>
              </a:rPr>
              <a:t>Laporan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039026" y="2071481"/>
            <a:ext cx="1012606" cy="232989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10715" y="2129729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0C5C56"/>
                </a:solidFill>
                <a:latin typeface="Aptos"/>
              </a:rPr>
              <a:t>Bulan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39026" y="2412004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10715" y="2470251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Capster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039026" y="2752526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10715" y="2810774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Pondok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039026" y="3093049"/>
            <a:ext cx="1012606" cy="232989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10715" y="3151296"/>
            <a:ext cx="878189" cy="716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29" b="0">
                <a:solidFill>
                  <a:srgbClr val="5C6D7B"/>
                </a:solidFill>
                <a:latin typeface="Aptos"/>
              </a:rPr>
              <a:t>Simpan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039026" y="3603833"/>
            <a:ext cx="1012606" cy="197144"/>
          </a:xfrm>
          <a:prstGeom prst="round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5840" y="5394960"/>
            <a:ext cx="10058400" cy="3474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500" b="0">
                <a:solidFill>
                  <a:srgbClr val="5C6D7B"/>
                </a:solidFill>
                <a:latin typeface="Aptos"/>
              </a:rPr>
              <a:t>Prinsip UI: ringkas, validasi jelas, angka rupiah mudah dibaca, dan navigasi cepat untuk admin harian.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Rencana Pengujian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Black Box Testing untuk memastikan fungsi berjalan sesuai kebutuhan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15</a:t>
            </a:r>
          </a:p>
        </p:txBody>
      </p:sp>
      <p:pic>
        <p:nvPicPr>
          <p:cNvPr id="9" name="Picture 8" descr="gambar_2_2_black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5074920" cy="308120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46520" y="1408176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5976" y="1325880"/>
            <a:ext cx="40782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182026"/>
                </a:solidFill>
                <a:latin typeface="Aptos"/>
              </a:rPr>
              <a:t>Login dan role</a:t>
            </a:r>
          </a:p>
        </p:txBody>
      </p:sp>
      <p:sp>
        <p:nvSpPr>
          <p:cNvPr id="12" name="Oval 11"/>
          <p:cNvSpPr/>
          <p:nvPr/>
        </p:nvSpPr>
        <p:spPr>
          <a:xfrm>
            <a:off x="6446520" y="1901952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5976" y="1819656"/>
            <a:ext cx="40782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182026"/>
                </a:solidFill>
                <a:latin typeface="Aptos"/>
              </a:rPr>
              <a:t>Kelola data utama</a:t>
            </a:r>
          </a:p>
        </p:txBody>
      </p:sp>
      <p:sp>
        <p:nvSpPr>
          <p:cNvPr id="14" name="Oval 13"/>
          <p:cNvSpPr/>
          <p:nvPr/>
        </p:nvSpPr>
        <p:spPr>
          <a:xfrm>
            <a:off x="6446520" y="2395728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5976" y="2313432"/>
            <a:ext cx="40782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182026"/>
                </a:solidFill>
                <a:latin typeface="Aptos"/>
              </a:rPr>
              <a:t>Input pendapatan harian</a:t>
            </a:r>
          </a:p>
        </p:txBody>
      </p:sp>
      <p:sp>
        <p:nvSpPr>
          <p:cNvPr id="16" name="Oval 15"/>
          <p:cNvSpPr/>
          <p:nvPr/>
        </p:nvSpPr>
        <p:spPr>
          <a:xfrm>
            <a:off x="6446520" y="2889504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65976" y="2807208"/>
            <a:ext cx="40782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182026"/>
                </a:solidFill>
                <a:latin typeface="Aptos"/>
              </a:rPr>
              <a:t>Input buku kas dan operasional</a:t>
            </a:r>
          </a:p>
        </p:txBody>
      </p:sp>
      <p:sp>
        <p:nvSpPr>
          <p:cNvPr id="18" name="Oval 17"/>
          <p:cNvSpPr/>
          <p:nvPr/>
        </p:nvSpPr>
        <p:spPr>
          <a:xfrm>
            <a:off x="6446520" y="3383280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5976" y="3300984"/>
            <a:ext cx="40782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182026"/>
                </a:solidFill>
                <a:latin typeface="Aptos"/>
              </a:rPr>
              <a:t>Hitung pembagian hasil</a:t>
            </a:r>
          </a:p>
        </p:txBody>
      </p:sp>
      <p:sp>
        <p:nvSpPr>
          <p:cNvPr id="20" name="Oval 19"/>
          <p:cNvSpPr/>
          <p:nvPr/>
        </p:nvSpPr>
        <p:spPr>
          <a:xfrm>
            <a:off x="6446520" y="3877056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5976" y="3794760"/>
            <a:ext cx="40782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182026"/>
                </a:solidFill>
                <a:latin typeface="Aptos"/>
              </a:rPr>
              <a:t>Validasi data kosong</a:t>
            </a:r>
          </a:p>
        </p:txBody>
      </p:sp>
      <p:sp>
        <p:nvSpPr>
          <p:cNvPr id="22" name="Oval 21"/>
          <p:cNvSpPr/>
          <p:nvPr/>
        </p:nvSpPr>
        <p:spPr>
          <a:xfrm>
            <a:off x="6446520" y="4370832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5976" y="4288536"/>
            <a:ext cx="407822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182026"/>
                </a:solidFill>
                <a:latin typeface="Aptos"/>
              </a:rPr>
              <a:t>Laporan sesuai hak akses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Target Hasil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Output yang diharapkan dari penelitian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508760"/>
            <a:ext cx="2926080" cy="306324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66543" y="1856231"/>
            <a:ext cx="621792" cy="621792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66543" y="2080077"/>
            <a:ext cx="621792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97480"/>
            <a:ext cx="22860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82026"/>
                </a:solidFill>
                <a:latin typeface="Aptos"/>
              </a:rPr>
              <a:t>Aplikasi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246120"/>
            <a:ext cx="2267712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0">
                <a:solidFill>
                  <a:srgbClr val="5C6D7B"/>
                </a:solidFill>
                <a:latin typeface="Aptos"/>
              </a:rPr>
              <a:t>Aplikasi Garden Barbershop Finance dapat digunakan pada perangkat Android.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508760"/>
            <a:ext cx="2926080" cy="3063240"/>
          </a:xfrm>
          <a:prstGeom prst="roundRect">
            <a:avLst/>
          </a:prstGeom>
          <a:solidFill>
            <a:srgbClr val="FFEEC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69864" y="1856231"/>
            <a:ext cx="621792" cy="621792"/>
          </a:xfrm>
          <a:prstGeom prst="ellipse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9864" y="2080077"/>
            <a:ext cx="621792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59" y="2697480"/>
            <a:ext cx="22860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82026"/>
                </a:solidFill>
                <a:latin typeface="Aptos"/>
              </a:rPr>
              <a:t>Data Terpusat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3246120"/>
            <a:ext cx="2267712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0">
                <a:solidFill>
                  <a:srgbClr val="5C6D7B"/>
                </a:solidFill>
                <a:latin typeface="Aptos"/>
              </a:rPr>
              <a:t>Data tersimpan di Firebase dan dapat diakses sesuai hak pengguna.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508760"/>
            <a:ext cx="2926080" cy="306324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3184" y="1856231"/>
            <a:ext cx="621792" cy="621792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73184" y="2080077"/>
            <a:ext cx="621792" cy="1097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697480"/>
            <a:ext cx="22860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1">
                <a:solidFill>
                  <a:srgbClr val="182026"/>
                </a:solidFill>
                <a:latin typeface="Aptos"/>
              </a:rPr>
              <a:t>Laporan Otomatis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3246120"/>
            <a:ext cx="2267712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150" b="0">
                <a:solidFill>
                  <a:srgbClr val="5C6D7B"/>
                </a:solidFill>
                <a:latin typeface="Aptos"/>
              </a:rPr>
              <a:t>Laporan pembagian hasil capster dan pondok dihitung secara sistematis.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257800"/>
            <a:ext cx="9829800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1">
                <a:solidFill>
                  <a:srgbClr val="0C5C56"/>
                </a:solidFill>
                <a:latin typeface="Aptos"/>
              </a:rPr>
              <a:t>Kontribusi utama: aplikasi back-office barbershop untuk pendapatan, kas, operasional, dan pembagian hasil capster.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822960"/>
            <a:ext cx="10652760" cy="5074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234440" y="1325880"/>
            <a:ext cx="422452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1274673" y="1506931"/>
            <a:ext cx="341985" cy="241401"/>
          </a:xfrm>
          <a:prstGeom prst="parallelogram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1274673" y="1828800"/>
            <a:ext cx="341985" cy="241401"/>
          </a:xfrm>
          <a:prstGeom prst="parallelogram">
            <a:avLst/>
          </a:prstGeom>
          <a:solidFill>
            <a:srgbClr val="4C8BF5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1274673" y="2150668"/>
            <a:ext cx="341985" cy="241401"/>
          </a:xfrm>
          <a:prstGeom prst="parallelogram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rallelogram 9"/>
          <p:cNvSpPr/>
          <p:nvPr/>
        </p:nvSpPr>
        <p:spPr>
          <a:xfrm>
            <a:off x="1274673" y="2472537"/>
            <a:ext cx="341985" cy="241401"/>
          </a:xfrm>
          <a:prstGeom prst="parallelogram">
            <a:avLst/>
          </a:prstGeom>
          <a:solidFill>
            <a:srgbClr val="4C8BF5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1274673" y="2794406"/>
            <a:ext cx="341985" cy="241401"/>
          </a:xfrm>
          <a:prstGeom prst="parallelogram">
            <a:avLst/>
          </a:prstGeom>
          <a:solidFill>
            <a:srgbClr val="E6504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94206" y="1205179"/>
            <a:ext cx="502920" cy="221284"/>
          </a:xfrm>
          <a:prstGeom prst="ellipse">
            <a:avLst/>
          </a:prstGeom>
          <a:solidFill>
            <a:srgbClr val="ECAE4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94206" y="3216859"/>
            <a:ext cx="502920" cy="221284"/>
          </a:xfrm>
          <a:prstGeom prst="ellipse">
            <a:avLst/>
          </a:prstGeom>
          <a:solidFill>
            <a:srgbClr val="ECAE43"/>
          </a:solidFill>
          <a:ln w="15240">
            <a:solidFill>
              <a:srgbClr val="ECAE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15400" y="1417320"/>
            <a:ext cx="1629460" cy="3037636"/>
          </a:xfrm>
          <a:prstGeom prst="roundRect">
            <a:avLst/>
          </a:prstGeom>
          <a:solidFill>
            <a:srgbClr val="18202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46159" y="1638604"/>
            <a:ext cx="1367942" cy="2625242"/>
          </a:xfrm>
          <a:prstGeom prst="roundRect">
            <a:avLst/>
          </a:prstGeom>
          <a:solidFill>
            <a:srgbClr val="FFFFFF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6684" y="1799539"/>
            <a:ext cx="1106424" cy="16093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25" b="1">
                <a:solidFill>
                  <a:srgbClr val="182026"/>
                </a:solidFill>
                <a:latin typeface="Aptos"/>
              </a:rPr>
              <a:t>Finish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56801" y="2151583"/>
            <a:ext cx="1136599" cy="261518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7268" y="2216962"/>
            <a:ext cx="985723" cy="8046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94" b="0">
                <a:solidFill>
                  <a:srgbClr val="0C5C56"/>
                </a:solidFill>
                <a:latin typeface="Aptos"/>
              </a:rPr>
              <a:t>Proposal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56801" y="2533802"/>
            <a:ext cx="1136599" cy="261518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7268" y="2599182"/>
            <a:ext cx="985723" cy="8046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94" b="0">
                <a:solidFill>
                  <a:srgbClr val="5C6D7B"/>
                </a:solidFill>
                <a:latin typeface="Aptos"/>
              </a:rPr>
              <a:t>Aplikasi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56801" y="2916021"/>
            <a:ext cx="1136599" cy="261518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7268" y="2981401"/>
            <a:ext cx="985723" cy="8046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94" b="0">
                <a:solidFill>
                  <a:srgbClr val="5C6D7B"/>
                </a:solidFill>
                <a:latin typeface="Aptos"/>
              </a:rPr>
              <a:t>Seminar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56801" y="3298240"/>
            <a:ext cx="1136599" cy="261518"/>
          </a:xfrm>
          <a:prstGeom prst="roundRect">
            <a:avLst/>
          </a:prstGeom>
          <a:solidFill>
            <a:srgbClr val="F4F7F8"/>
          </a:solidFill>
          <a:ln w="1524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7268" y="3363620"/>
            <a:ext cx="985723" cy="8046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594" b="0">
                <a:solidFill>
                  <a:srgbClr val="5C6D7B"/>
                </a:solidFill>
                <a:latin typeface="Aptos"/>
              </a:rPr>
              <a:t>Revisi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56801" y="3871569"/>
            <a:ext cx="1136599" cy="221284"/>
          </a:xfrm>
          <a:prstGeom prst="roundRect">
            <a:avLst/>
          </a:prstGeom>
          <a:solidFill>
            <a:srgbClr val="ECAE43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1417320"/>
            <a:ext cx="5212080" cy="6583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4400" b="1">
                <a:solidFill>
                  <a:srgbClr val="182026"/>
                </a:solidFill>
                <a:latin typeface="Aptos Display"/>
              </a:rPr>
              <a:t>Terima kasih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2331720"/>
            <a:ext cx="50292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800" b="0">
                <a:solidFill>
                  <a:srgbClr val="5C6D7B"/>
                </a:solidFill>
                <a:latin typeface="Aptos"/>
              </a:rPr>
              <a:t>Mohon arahan dan masukan untuk penyempurnaan proposal skripsi ini.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63240" y="3337560"/>
            <a:ext cx="45262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400" b="1">
                <a:solidFill>
                  <a:srgbClr val="0C5C56"/>
                </a:solidFill>
                <a:latin typeface="Aptos"/>
              </a:rPr>
              <a:t>Syahrul Anam | 42322006</a:t>
            </a:r>
            <a:br/>
            <a:r>
              <a:rPr sz="1400" b="1">
                <a:solidFill>
                  <a:srgbClr val="0C5C56"/>
                </a:solidFill>
                <a:latin typeface="Aptos"/>
              </a:rPr>
              <a:t>Program Studi Sistem Informasi</a:t>
            </a:r>
            <a:br/>
            <a:r>
              <a:rPr sz="1400" b="1">
                <a:solidFill>
                  <a:srgbClr val="0C5C56"/>
                </a:solidFill>
                <a:latin typeface="Aptos"/>
              </a:rPr>
              <a:t>Universitas Peradaban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37560" y="4800600"/>
            <a:ext cx="39319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200" b="1">
                <a:solidFill>
                  <a:srgbClr val="ECAE43"/>
                </a:solidFill>
                <a:latin typeface="Aptos"/>
              </a:rPr>
              <a:t>Ada pertanyaan?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8046720" cy="51206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500" b="1">
                <a:solidFill>
                  <a:srgbClr val="182026"/>
                </a:solidFill>
                <a:latin typeface="Aptos Display"/>
              </a:rPr>
              <a:t>Referensi Utama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150" b="0">
                <a:solidFill>
                  <a:srgbClr val="5C6D7B"/>
                </a:solidFill>
                <a:latin typeface="Aptos"/>
              </a:rPr>
              <a:t>Slide cadangan jika penguji menanyakan dasar rujukan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16768" y="393192"/>
            <a:ext cx="713232" cy="347472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16768" y="461772"/>
            <a:ext cx="713232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850" b="1">
                <a:solidFill>
                  <a:srgbClr val="0C5C56"/>
                </a:solidFill>
                <a:latin typeface="Aptos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473952"/>
            <a:ext cx="2468880" cy="137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>
                <a:solidFill>
                  <a:srgbClr val="5C6D7B"/>
                </a:solidFill>
                <a:latin typeface="Aptos"/>
              </a:rPr>
              <a:t>Garden Barbershop Finance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64808"/>
            <a:ext cx="3840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1">
                <a:solidFill>
                  <a:srgbClr val="5C6D7B"/>
                </a:solidFill>
                <a:latin typeface="Aptos"/>
              </a:rPr>
              <a:t>18</a:t>
            </a:r>
          </a:p>
        </p:txBody>
      </p:sp>
      <p:sp>
        <p:nvSpPr>
          <p:cNvPr id="9" name="Oval 8"/>
          <p:cNvSpPr/>
          <p:nvPr/>
        </p:nvSpPr>
        <p:spPr>
          <a:xfrm>
            <a:off x="960120" y="1408176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1325880"/>
            <a:ext cx="96560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82026"/>
                </a:solidFill>
                <a:latin typeface="Aptos"/>
              </a:rPr>
              <a:t>Refwahajan &amp; Waluyo, aplikasi barbershop berbasis Android [1]</a:t>
            </a:r>
          </a:p>
        </p:txBody>
      </p:sp>
      <p:sp>
        <p:nvSpPr>
          <p:cNvPr id="11" name="Oval 10"/>
          <p:cNvSpPr/>
          <p:nvPr/>
        </p:nvSpPr>
        <p:spPr>
          <a:xfrm>
            <a:off x="960120" y="1993391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9576" y="1911095"/>
            <a:ext cx="96560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82026"/>
                </a:solidFill>
                <a:latin typeface="Aptos"/>
              </a:rPr>
              <a:t>Rohmat dkk., pemesanan online barbershop dan Black Box Testing [2]</a:t>
            </a:r>
          </a:p>
        </p:txBody>
      </p:sp>
      <p:sp>
        <p:nvSpPr>
          <p:cNvPr id="13" name="Oval 12"/>
          <p:cNvSpPr/>
          <p:nvPr/>
        </p:nvSpPr>
        <p:spPr>
          <a:xfrm>
            <a:off x="960120" y="2578608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2496312"/>
            <a:ext cx="96560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82026"/>
                </a:solidFill>
                <a:latin typeface="Aptos"/>
              </a:rPr>
              <a:t>Bahtiar dkk., aplikasi barbershop untuk informasi dan layanan [3]</a:t>
            </a:r>
          </a:p>
        </p:txBody>
      </p:sp>
      <p:sp>
        <p:nvSpPr>
          <p:cNvPr id="15" name="Oval 14"/>
          <p:cNvSpPr/>
          <p:nvPr/>
        </p:nvSpPr>
        <p:spPr>
          <a:xfrm>
            <a:off x="960120" y="3163824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9576" y="3081528"/>
            <a:ext cx="96560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82026"/>
                </a:solidFill>
                <a:latin typeface="Aptos"/>
              </a:rPr>
              <a:t>Yurindra dkk., client-server Android pada barbershop [4]</a:t>
            </a:r>
          </a:p>
        </p:txBody>
      </p:sp>
      <p:sp>
        <p:nvSpPr>
          <p:cNvPr id="17" name="Oval 16"/>
          <p:cNvSpPr/>
          <p:nvPr/>
        </p:nvSpPr>
        <p:spPr>
          <a:xfrm>
            <a:off x="960120" y="3749039"/>
            <a:ext cx="109728" cy="109728"/>
          </a:xfrm>
          <a:prstGeom prst="ellipse">
            <a:avLst/>
          </a:prstGeom>
          <a:solidFill>
            <a:srgbClr val="128076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9576" y="3666744"/>
            <a:ext cx="9656064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600" b="0">
                <a:solidFill>
                  <a:srgbClr val="182026"/>
                </a:solidFill>
                <a:latin typeface="Aptos"/>
              </a:rPr>
              <a:t>Sommerville, Software Engineering untuk model Waterfall [5]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0120" y="5166360"/>
            <a:ext cx="9966960" cy="685800"/>
          </a:xfrm>
          <a:prstGeom prst="roundRect">
            <a:avLst/>
          </a:prstGeom>
          <a:solidFill>
            <a:srgbClr val="D8F6EE"/>
          </a:solidFill>
          <a:ln w="15240">
            <a:solidFill>
              <a:srgbClr val="1280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34440" y="5394960"/>
            <a:ext cx="937260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50" b="1">
                <a:solidFill>
                  <a:srgbClr val="0C5C56"/>
                </a:solidFill>
                <a:latin typeface="Aptos"/>
              </a:rPr>
              <a:t>Catatan presentasi: tekankan bahwa penelitian ini berbeda karena fokus pada manajemen internal dan pembagian hasil, bukan booking pelanggan.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