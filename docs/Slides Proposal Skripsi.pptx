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5C6E7D"/>
                </a:solidFill>
                <a:latin typeface="Aptos"/>
              </a:rPr>
              <a:t>Garden Barbershop Finance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37376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1">
                <a:solidFill>
                  <a:srgbClr val="5C6E7D"/>
                </a:solidFill>
                <a:latin typeface="Aptos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251960" cy="685800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51960" y="0"/>
            <a:ext cx="7936992" cy="6858000"/>
          </a:xfrm>
          <a:prstGeom prst="rect">
            <a:avLst/>
          </a:prstGeom>
          <a:solidFill>
            <a:srgbClr val="F7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0080"/>
            <a:ext cx="20116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PROPOSAL SKRIPSI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74519"/>
            <a:ext cx="3063240" cy="1737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 Display"/>
              </a:rPr>
              <a:t>Garden</a:t>
            </a:r>
            <a:br/>
            <a:r>
              <a:rPr sz="3800" b="1">
                <a:solidFill>
                  <a:srgbClr val="FFFFFF"/>
                </a:solidFill>
                <a:latin typeface="Aptos Display"/>
              </a:rPr>
              <a:t>Barbershop</a:t>
            </a:r>
            <a:br/>
            <a:r>
              <a:rPr sz="3800" b="1">
                <a:solidFill>
                  <a:srgbClr val="FFFFFF"/>
                </a:solidFill>
                <a:latin typeface="Aptos Display"/>
              </a:rPr>
              <a:t>Finance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886200"/>
            <a:ext cx="914400" cy="329184"/>
          </a:xfrm>
          <a:prstGeom prst="roundRect">
            <a:avLst/>
          </a:prstGeom>
          <a:solidFill>
            <a:srgbClr val="FFF2CC"/>
          </a:solidFill>
          <a:ln>
            <a:solidFill>
              <a:srgbClr val="D8A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963924"/>
            <a:ext cx="91440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50" b="1">
                <a:solidFill>
                  <a:srgbClr val="D8A642"/>
                </a:solidFill>
                <a:latin typeface="Aptos"/>
              </a:rPr>
              <a:t>Android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00784" y="3886200"/>
            <a:ext cx="868680" cy="329184"/>
          </a:xfrm>
          <a:prstGeom prst="roundRect">
            <a:avLst/>
          </a:prstGeom>
          <a:solidFill>
            <a:srgbClr val="FFF2CC"/>
          </a:solidFill>
          <a:ln>
            <a:solidFill>
              <a:srgbClr val="D8A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00784" y="3963924"/>
            <a:ext cx="86868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50" b="1">
                <a:solidFill>
                  <a:srgbClr val="D8A642"/>
                </a:solidFill>
                <a:latin typeface="Aptos"/>
              </a:rPr>
              <a:t>Flutter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70048" y="3886200"/>
            <a:ext cx="1051560" cy="329184"/>
          </a:xfrm>
          <a:prstGeom prst="roundRect">
            <a:avLst/>
          </a:prstGeom>
          <a:solidFill>
            <a:srgbClr val="FFF2CC"/>
          </a:solidFill>
          <a:ln>
            <a:solidFill>
              <a:srgbClr val="D8A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0048" y="3963924"/>
            <a:ext cx="105156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50" b="1">
                <a:solidFill>
                  <a:srgbClr val="D8A642"/>
                </a:solidFill>
                <a:latin typeface="Aptos"/>
              </a:rPr>
              <a:t>Firebase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005840"/>
            <a:ext cx="640080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161F24"/>
                </a:solidFill>
                <a:latin typeface="Aptos Display"/>
              </a:rPr>
              <a:t>Rancang Bangun Aplikasi Android Pengelolaan Pendapatan dan Pembagian Hasil Capster pada Garden Barbershop Berbasis Firebase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8032" y="2670048"/>
            <a:ext cx="475488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5C6E7D"/>
                </a:solidFill>
                <a:latin typeface="Aptos"/>
              </a:rPr>
              <a:t>Syahrul Anam | 42322006</a:t>
            </a:r>
            <a:br/>
            <a:r>
              <a:rPr sz="1400" b="0">
                <a:solidFill>
                  <a:srgbClr val="5C6E7D"/>
                </a:solidFill>
                <a:latin typeface="Aptos"/>
              </a:rPr>
              <a:t>Program Studi Sistem Informasi</a:t>
            </a:r>
            <a:br/>
            <a:r>
              <a:rPr sz="1400" b="0">
                <a:solidFill>
                  <a:srgbClr val="5C6E7D"/>
                </a:solidFill>
                <a:latin typeface="Aptos"/>
              </a:rPr>
              <a:t>Universitas Peradaban | 2026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38360" y="3246120"/>
            <a:ext cx="1508760" cy="2788920"/>
          </a:xfrm>
          <a:prstGeom prst="roundRect">
            <a:avLst/>
          </a:prstGeom>
          <a:solidFill>
            <a:srgbClr val="16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48088" y="3447288"/>
            <a:ext cx="1289304" cy="24048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21240" y="3593591"/>
            <a:ext cx="1143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>
                <a:solidFill>
                  <a:srgbClr val="161F24"/>
                </a:solidFill>
                <a:latin typeface="Aptos"/>
              </a:rPr>
              <a:t>Dashboard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57816" y="3931920"/>
            <a:ext cx="1069848" cy="228600"/>
          </a:xfrm>
          <a:prstGeom prst="roundRect">
            <a:avLst/>
          </a:prstGeom>
          <a:solidFill>
            <a:srgbClr val="DCF5EE"/>
          </a:solidFill>
          <a:ln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12680" y="3986783"/>
            <a:ext cx="960120" cy="73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30" b="0">
                <a:solidFill>
                  <a:srgbClr val="115E59"/>
                </a:solidFill>
                <a:latin typeface="Aptos"/>
              </a:rPr>
              <a:t>Total Rp5.115.000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57816" y="4279392"/>
            <a:ext cx="1069848" cy="228600"/>
          </a:xfrm>
          <a:prstGeom prst="roundRect">
            <a:avLst/>
          </a:prstGeom>
          <a:solidFill>
            <a:srgbClr val="F4F7F8"/>
          </a:solidFill>
          <a:ln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12680" y="4334255"/>
            <a:ext cx="960120" cy="73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30" b="0">
                <a:solidFill>
                  <a:srgbClr val="5C6E7D"/>
                </a:solidFill>
                <a:latin typeface="Aptos"/>
              </a:rPr>
              <a:t>Kas Umum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57816" y="4626864"/>
            <a:ext cx="1069848" cy="228600"/>
          </a:xfrm>
          <a:prstGeom prst="roundRect">
            <a:avLst/>
          </a:prstGeom>
          <a:solidFill>
            <a:srgbClr val="F4F7F8"/>
          </a:solidFill>
          <a:ln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12680" y="4681727"/>
            <a:ext cx="960120" cy="73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30" b="0">
                <a:solidFill>
                  <a:srgbClr val="5C6E7D"/>
                </a:solidFill>
                <a:latin typeface="Aptos"/>
              </a:rPr>
              <a:t>Operasional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57816" y="4974336"/>
            <a:ext cx="1069848" cy="228600"/>
          </a:xfrm>
          <a:prstGeom prst="roundRect">
            <a:avLst/>
          </a:prstGeom>
          <a:solidFill>
            <a:srgbClr val="F4F7F8"/>
          </a:solidFill>
          <a:ln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12680" y="5029199"/>
            <a:ext cx="960120" cy="73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30" b="0">
                <a:solidFill>
                  <a:srgbClr val="5C6E7D"/>
                </a:solidFill>
                <a:latin typeface="Aptos"/>
              </a:rPr>
              <a:t>Laporan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57816" y="5458968"/>
            <a:ext cx="1069848" cy="21031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5C6E7D"/>
                </a:solidFill>
                <a:latin typeface="Aptos"/>
              </a:rPr>
              <a:t>Garden Barbershop Finance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37376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1">
                <a:solidFill>
                  <a:srgbClr val="5C6E7D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1323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161F24"/>
                </a:solidFill>
                <a:latin typeface="Aptos Display"/>
              </a:rPr>
              <a:t>Alur Presentasi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7680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5C6E7D"/>
                </a:solidFill>
                <a:latin typeface="Aptos"/>
              </a:rPr>
              <a:t>Ringkasan materi seminar proposal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42448" y="384048"/>
            <a:ext cx="1005840" cy="384048"/>
          </a:xfrm>
          <a:prstGeom prst="roundRect">
            <a:avLst/>
          </a:prstGeom>
          <a:solidFill>
            <a:srgbClr val="DCF5E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42448" y="461772"/>
            <a:ext cx="10058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>
                <a:solidFill>
                  <a:srgbClr val="115E59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5C6E7D"/>
                </a:solidFill>
                <a:latin typeface="Aptos"/>
              </a:rPr>
              <a:t>Garden Barbershop Finance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37376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1">
                <a:solidFill>
                  <a:srgbClr val="5C6E7D"/>
                </a:solidFill>
                <a:latin typeface="Aptos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417320"/>
            <a:ext cx="3154680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1618488"/>
            <a:ext cx="2670048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1. Latar belakang dan masalah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417320"/>
            <a:ext cx="3154680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28032" y="1618488"/>
            <a:ext cx="2670048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2. Rumusan masalah, batasan, tujuan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19" y="1417320"/>
            <a:ext cx="3154680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31351" y="1618488"/>
            <a:ext cx="2670048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3. Penelitian terkait dan kebaruan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063240"/>
            <a:ext cx="3154680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4712" y="3264408"/>
            <a:ext cx="2670048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4. Solusi sistem dan fitur aplikasi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063240"/>
            <a:ext cx="3154680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28032" y="3264408"/>
            <a:ext cx="2670048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5. Metode pengembangan dan pengujian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19" y="3063240"/>
            <a:ext cx="3154680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31351" y="3264408"/>
            <a:ext cx="2670048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6. Rencana hasil penelitian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1323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161F24"/>
                </a:solidFill>
                <a:latin typeface="Aptos Display"/>
              </a:rPr>
              <a:t>Konteks Objek Penelitian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7680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5C6E7D"/>
                </a:solidFill>
                <a:latin typeface="Aptos"/>
              </a:rPr>
              <a:t>Garden Barbershop sebagai usaha jasa potong rambut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42448" y="384048"/>
            <a:ext cx="1005840" cy="384048"/>
          </a:xfrm>
          <a:prstGeom prst="roundRect">
            <a:avLst/>
          </a:prstGeom>
          <a:solidFill>
            <a:srgbClr val="DCF5E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42448" y="461772"/>
            <a:ext cx="10058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>
                <a:solidFill>
                  <a:srgbClr val="115E59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5C6E7D"/>
                </a:solidFill>
                <a:latin typeface="Aptos"/>
              </a:rPr>
              <a:t>Garden Barbershop Finance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37376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1">
                <a:solidFill>
                  <a:srgbClr val="5C6E7D"/>
                </a:solidFill>
                <a:latin typeface="Aptos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325880"/>
            <a:ext cx="292608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8408" y="1527048"/>
            <a:ext cx="438912" cy="43891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609344"/>
            <a:ext cx="43891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GB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5336" y="1527048"/>
            <a:ext cx="19293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Objek penelitian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" y="1984248"/>
            <a:ext cx="2414016" cy="3337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5C6E7D"/>
                </a:solidFill>
                <a:latin typeface="Aptos"/>
              </a:rPr>
              <a:t>Garden Barbershop memiliki proses pendapatan harian, buku kas umum, biaya operasional, dan pembagian hasil capster.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1325880"/>
            <a:ext cx="292608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78807" y="1527048"/>
            <a:ext cx="438912" cy="438912"/>
          </a:xfrm>
          <a:prstGeom prst="ellipse">
            <a:avLst/>
          </a:prstGeom>
          <a:solidFill>
            <a:srgbClr val="D8A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78807" y="1609344"/>
            <a:ext cx="43891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5736" y="1527048"/>
            <a:ext cx="19293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Data yang dikelola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33672" y="1984248"/>
            <a:ext cx="2414016" cy="3337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5C6E7D"/>
                </a:solidFill>
                <a:latin typeface="Aptos"/>
              </a:rPr>
              <a:t>Data capster, data layanan, transaksi pendapatan harian, akun pengguna, operasional, dan laporan bulanan.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78040" y="1325880"/>
            <a:ext cx="388620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79208" y="1527048"/>
            <a:ext cx="438912" cy="43891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79208" y="1609344"/>
            <a:ext cx="43891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46136" y="1527048"/>
            <a:ext cx="288950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Kondisi awal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34071" y="1984248"/>
            <a:ext cx="3374136" cy="3337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5C6E7D"/>
                </a:solidFill>
                <a:latin typeface="Aptos"/>
              </a:rPr>
              <a:t>Sebelumnya pencatatan dibantu Google Spreadsheet. Format laporan sudah membantu, tetapi belum ideal sebagai pusat data aplikasi karena rentan salah input dan sulit mengatur akses pengguna.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1323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161F24"/>
                </a:solidFill>
                <a:latin typeface="Aptos Display"/>
              </a:rPr>
              <a:t>Permasalahan Utama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7680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5C6E7D"/>
                </a:solidFill>
                <a:latin typeface="Aptos"/>
              </a:rPr>
              <a:t>Masalah muncul pada pencatatan dan kontrol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42448" y="384048"/>
            <a:ext cx="1005840" cy="384048"/>
          </a:xfrm>
          <a:prstGeom prst="roundRect">
            <a:avLst/>
          </a:prstGeom>
          <a:solidFill>
            <a:srgbClr val="DCF5E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42448" y="461772"/>
            <a:ext cx="10058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>
                <a:solidFill>
                  <a:srgbClr val="115E59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5C6E7D"/>
                </a:solidFill>
                <a:latin typeface="Aptos"/>
              </a:rPr>
              <a:t>Garden Barbershop Finance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37376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1">
                <a:solidFill>
                  <a:srgbClr val="5C6E7D"/>
                </a:solidFill>
                <a:latin typeface="Aptos"/>
              </a:rPr>
              <a:t>04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1353312"/>
            <a:ext cx="100584" cy="10058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1280160"/>
            <a:ext cx="5285232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161F24"/>
                </a:solidFill>
                <a:latin typeface="Aptos"/>
              </a:rPr>
              <a:t>Input langsung ke spreadsheet rawan salah kolom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1764792"/>
            <a:ext cx="100584" cy="10058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1691639"/>
            <a:ext cx="5285232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161F24"/>
                </a:solidFill>
                <a:latin typeface="Aptos"/>
              </a:rPr>
              <a:t>Struktur kolom dan rumus dapat berubah atau terhapus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176272"/>
            <a:ext cx="100584" cy="10058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2103120"/>
            <a:ext cx="5285232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161F24"/>
                </a:solidFill>
                <a:latin typeface="Aptos"/>
              </a:rPr>
              <a:t>Belum ada pembatasan akses yang kuat berdasarkan role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2587752"/>
            <a:ext cx="100584" cy="10058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2514600"/>
            <a:ext cx="5285232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161F24"/>
                </a:solidFill>
                <a:latin typeface="Aptos"/>
              </a:rPr>
              <a:t>Capster biasa perlu dibatasi agar hanya melihat datanya sendiri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2999232"/>
            <a:ext cx="100584" cy="10058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2926080"/>
            <a:ext cx="5285232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161F24"/>
                </a:solidFill>
                <a:latin typeface="Aptos"/>
              </a:rPr>
              <a:t>Laporan bulanan membutuhkan rekap dan perhitungan yang konsisten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1325880"/>
            <a:ext cx="420624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922007" y="1527048"/>
            <a:ext cx="438912" cy="438912"/>
          </a:xfrm>
          <a:prstGeom prst="ellipse">
            <a:avLst/>
          </a:prstGeom>
          <a:solidFill>
            <a:srgbClr val="E5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22007" y="1609344"/>
            <a:ext cx="43891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8936" y="1527048"/>
            <a:ext cx="320954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Masalah kunci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6872" y="1984248"/>
            <a:ext cx="3694175" cy="2834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5C6E7D"/>
                </a:solidFill>
                <a:latin typeface="Aptos"/>
              </a:rPr>
              <a:t>Bagaimana memastikan transaksi yang dicatat sesuai layanan nyata, tetapi tetap realistis karena Garden Barbershop tidak selalu memiliki kasir khusus?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5230368"/>
            <a:ext cx="35204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15E59"/>
                </a:solidFill>
                <a:latin typeface="Aptos"/>
              </a:rPr>
              <a:t>Solusi operasional: Admin Harian dijalankan oleh capster senior yang dipercaya.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1323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161F24"/>
                </a:solidFill>
                <a:latin typeface="Aptos Display"/>
              </a:rPr>
              <a:t>Rumusan, Batasan, dan Tujuan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7680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5C6E7D"/>
                </a:solidFill>
                <a:latin typeface="Aptos"/>
              </a:rPr>
              <a:t>Fokus proposal dibuat spesifik dan terukur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42448" y="384048"/>
            <a:ext cx="1005840" cy="384048"/>
          </a:xfrm>
          <a:prstGeom prst="roundRect">
            <a:avLst/>
          </a:prstGeom>
          <a:solidFill>
            <a:srgbClr val="DCF5E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42448" y="461772"/>
            <a:ext cx="10058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>
                <a:solidFill>
                  <a:srgbClr val="115E59"/>
                </a:solidFill>
                <a:latin typeface="Apto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5C6E7D"/>
                </a:solidFill>
                <a:latin typeface="Aptos"/>
              </a:rPr>
              <a:t>Garden Barbershop Finance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37376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1">
                <a:solidFill>
                  <a:srgbClr val="5C6E7D"/>
                </a:solidFill>
                <a:latin typeface="Aptos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234440"/>
            <a:ext cx="342900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6968" y="1435608"/>
            <a:ext cx="438912" cy="43891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517904"/>
            <a:ext cx="43891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53895" y="1435608"/>
            <a:ext cx="243230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Rumusan Masalah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1892808"/>
            <a:ext cx="2916936" cy="3703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5C6E7D"/>
                </a:solidFill>
                <a:latin typeface="Aptos"/>
              </a:rPr>
              <a:t>Bagaimana merancang dan membangun aplikasi Android pengelolaan pendapatan dan pembagian hasil capster pada Garden Barbershop berbasis Firebase?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1234440"/>
            <a:ext cx="342900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08576" y="1435608"/>
            <a:ext cx="438912" cy="438912"/>
          </a:xfrm>
          <a:prstGeom prst="ellipse">
            <a:avLst/>
          </a:prstGeom>
          <a:solidFill>
            <a:srgbClr val="D8A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8576" y="1517904"/>
            <a:ext cx="43891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75504" y="1435608"/>
            <a:ext cx="243230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Batasan Utama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1892808"/>
            <a:ext cx="2916936" cy="3703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5C6E7D"/>
                </a:solidFill>
                <a:latin typeface="Aptos"/>
              </a:rPr>
              <a:t>Aplikasi digunakan internal: Admin, Admin Harian, Capster, dan Pemilik. Tidak membahas booking, antrean pelanggan, pembayaran online, kasir penuh, dan stok produk detail.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234440"/>
            <a:ext cx="324612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39328" y="1435608"/>
            <a:ext cx="438912" cy="43891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8" y="1517904"/>
            <a:ext cx="43891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06256" y="1435608"/>
            <a:ext cx="224942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Tujuan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1892808"/>
            <a:ext cx="2734056" cy="3703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5C6E7D"/>
                </a:solidFill>
                <a:latin typeface="Aptos"/>
              </a:rPr>
              <a:t>Membangun aplikasi yang dapat mencatat transaksi, kas, operasional, mengatur akses pengguna, dan menghitung pembagian hasil secara otomatis.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1323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161F24"/>
                </a:solidFill>
                <a:latin typeface="Aptos Display"/>
              </a:rPr>
              <a:t>Penelitian Terkait dan Kebaruan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7680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5C6E7D"/>
                </a:solidFill>
                <a:latin typeface="Aptos"/>
              </a:rPr>
              <a:t>Rujukan fokus pada aplikasi barbershop berbasis Android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42448" y="384048"/>
            <a:ext cx="1005840" cy="384048"/>
          </a:xfrm>
          <a:prstGeom prst="roundRect">
            <a:avLst/>
          </a:prstGeom>
          <a:solidFill>
            <a:srgbClr val="DCF5E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42448" y="461772"/>
            <a:ext cx="10058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>
                <a:solidFill>
                  <a:srgbClr val="115E59"/>
                </a:solidFill>
                <a:latin typeface="Apto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5C6E7D"/>
                </a:solidFill>
                <a:latin typeface="Aptos"/>
              </a:rPr>
              <a:t>Garden Barbershop Finance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37376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1">
                <a:solidFill>
                  <a:srgbClr val="5C6E7D"/>
                </a:solidFill>
                <a:latin typeface="Aptos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216152"/>
            <a:ext cx="484632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417320"/>
            <a:ext cx="4361688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Refwahajan &amp; Waluyo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874519"/>
            <a:ext cx="4334256" cy="-274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5C6E7D"/>
                </a:solidFill>
                <a:latin typeface="Aptos"/>
              </a:rPr>
              <a:t>Booking layanan, barberman, waktu layanan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130552"/>
            <a:ext cx="484632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331720"/>
            <a:ext cx="4361688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Rohmat dkk.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788920"/>
            <a:ext cx="4334256" cy="-274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5C6E7D"/>
                </a:solidFill>
                <a:latin typeface="Aptos"/>
              </a:rPr>
              <a:t>Pemesanan online dengan Waterfall dan Black Box Testing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044952"/>
            <a:ext cx="484632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246120"/>
            <a:ext cx="4361688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Bahtiar dkk.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703320"/>
            <a:ext cx="4334256" cy="-274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5C6E7D"/>
                </a:solidFill>
                <a:latin typeface="Aptos"/>
              </a:rPr>
              <a:t>Informasi layanan dan pemesanan barbershop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959352"/>
            <a:ext cx="484632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160520"/>
            <a:ext cx="4361688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Yurindra dkk.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617720"/>
            <a:ext cx="4334256" cy="-274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5C6E7D"/>
                </a:solidFill>
                <a:latin typeface="Aptos"/>
              </a:rPr>
              <a:t>Client-server Android dan antrean real-time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1234440"/>
            <a:ext cx="4160520" cy="3794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93407" y="1435608"/>
            <a:ext cx="438912" cy="438912"/>
          </a:xfrm>
          <a:prstGeom prst="ellipse">
            <a:avLst/>
          </a:prstGeom>
          <a:solidFill>
            <a:srgbClr val="D8A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7" y="1517904"/>
            <a:ext cx="43891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NEW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0336" y="1435608"/>
            <a:ext cx="316382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Kebaruan Penelitian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8272" y="1892808"/>
            <a:ext cx="3648456" cy="3017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5C6E7D"/>
                </a:solidFill>
                <a:latin typeface="Aptos"/>
              </a:rPr>
              <a:t>Penelitian ini tidak berfokus pada booking atau antrean pelanggan. Fokus penelitian adalah manajemen internal: pendapatan harian capster, buku kas umum, operasional, role pengguna, dan pembagian hasil capster.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1323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161F24"/>
                </a:solidFill>
                <a:latin typeface="Aptos Display"/>
              </a:rPr>
              <a:t>Solusi yang Diusulkan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7680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5C6E7D"/>
                </a:solidFill>
                <a:latin typeface="Aptos"/>
              </a:rPr>
              <a:t>Garden Barbershop Finance sebagai aplikasi internal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42448" y="384048"/>
            <a:ext cx="1005840" cy="384048"/>
          </a:xfrm>
          <a:prstGeom prst="roundRect">
            <a:avLst/>
          </a:prstGeom>
          <a:solidFill>
            <a:srgbClr val="DCF5E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42448" y="461772"/>
            <a:ext cx="10058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>
                <a:solidFill>
                  <a:srgbClr val="115E59"/>
                </a:solidFill>
                <a:latin typeface="Apto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5C6E7D"/>
                </a:solidFill>
                <a:latin typeface="Aptos"/>
              </a:rPr>
              <a:t>Garden Barbershop Finance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37376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1">
                <a:solidFill>
                  <a:srgbClr val="5C6E7D"/>
                </a:solidFill>
                <a:latin typeface="Aptos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188720"/>
            <a:ext cx="297180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24128" y="1389888"/>
            <a:ext cx="438912" cy="43891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1472184"/>
            <a:ext cx="43891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389888"/>
            <a:ext cx="197510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Input Terstruktur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1847088"/>
            <a:ext cx="2459736" cy="2834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5C6E7D"/>
                </a:solidFill>
                <a:latin typeface="Aptos"/>
              </a:rPr>
              <a:t>Form Android mengurangi risiko salah kolom dan mempercepat pencatatan harian.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188720"/>
            <a:ext cx="297180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44568" y="1389888"/>
            <a:ext cx="438912" cy="438912"/>
          </a:xfrm>
          <a:prstGeom prst="ellipse">
            <a:avLst/>
          </a:prstGeom>
          <a:solidFill>
            <a:srgbClr val="D8A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1472184"/>
            <a:ext cx="43891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1496" y="1389888"/>
            <a:ext cx="197510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Role Pengguna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1847088"/>
            <a:ext cx="2459736" cy="2834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5C6E7D"/>
                </a:solidFill>
                <a:latin typeface="Aptos"/>
              </a:rPr>
              <a:t>Admin, Admin Harian, Capster, dan Pemilik memiliki hak akses berbeda.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1188720"/>
            <a:ext cx="297180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65008" y="1389888"/>
            <a:ext cx="438912" cy="43891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65008" y="1472184"/>
            <a:ext cx="43891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1936" y="1389888"/>
            <a:ext cx="197510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Data Terpusat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871" y="1847088"/>
            <a:ext cx="2459736" cy="2834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5C6E7D"/>
                </a:solidFill>
                <a:latin typeface="Aptos"/>
              </a:rPr>
              <a:t>Firebase menyimpan data secara online dan dapat dibaca sesuai kebutuhan laporan.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486400"/>
            <a:ext cx="96926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700" b="1">
                <a:solidFill>
                  <a:srgbClr val="115E59"/>
                </a:solidFill>
                <a:latin typeface="Aptos"/>
              </a:rPr>
              <a:t>Admin/Pengelola → Aplikasi Android → Firebase Authentication + Cloud Firestore → Laporan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1323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161F24"/>
                </a:solidFill>
                <a:latin typeface="Aptos Display"/>
              </a:rPr>
              <a:t>Role dan Hak Akses Pengguna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7680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5C6E7D"/>
                </a:solidFill>
                <a:latin typeface="Aptos"/>
              </a:rPr>
              <a:t>Pembatasan akses untuk mengurangi risiko manipulasi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42448" y="384048"/>
            <a:ext cx="1005840" cy="384048"/>
          </a:xfrm>
          <a:prstGeom prst="roundRect">
            <a:avLst/>
          </a:prstGeom>
          <a:solidFill>
            <a:srgbClr val="DCF5E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42448" y="461772"/>
            <a:ext cx="10058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>
                <a:solidFill>
                  <a:srgbClr val="115E59"/>
                </a:solidFill>
                <a:latin typeface="Apto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5C6E7D"/>
                </a:solidFill>
                <a:latin typeface="Aptos"/>
              </a:rPr>
              <a:t>Garden Barbershop Finance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37376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1">
                <a:solidFill>
                  <a:srgbClr val="5C6E7D"/>
                </a:solidFill>
                <a:latin typeface="Aptos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143000"/>
            <a:ext cx="507492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344168"/>
            <a:ext cx="4590288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Admin/Pengelola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801368"/>
            <a:ext cx="4562856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5C6E7D"/>
                </a:solidFill>
                <a:latin typeface="Aptos"/>
              </a:rPr>
              <a:t>• Kelola akun, capster, layanan</a:t>
            </a:r>
            <a:br/>
            <a:r>
              <a:rPr sz="1150" b="0">
                <a:solidFill>
                  <a:srgbClr val="5C6E7D"/>
                </a:solidFill>
                <a:latin typeface="Aptos"/>
              </a:rPr>
              <a:t>• Input/ubah/hapus data utama</a:t>
            </a:r>
            <a:br/>
            <a:r>
              <a:rPr sz="1150" b="0">
                <a:solidFill>
                  <a:srgbClr val="5C6E7D"/>
                </a:solidFill>
                <a:latin typeface="Aptos"/>
              </a:rPr>
              <a:t>• Melihat seluruh laporan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43000"/>
            <a:ext cx="507492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344168"/>
            <a:ext cx="4590288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Admin Harian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1801368"/>
            <a:ext cx="4562856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5C6E7D"/>
                </a:solidFill>
                <a:latin typeface="Aptos"/>
              </a:rPr>
              <a:t>• Capster senior yang dipercaya</a:t>
            </a:r>
            <a:br/>
            <a:r>
              <a:rPr sz="1150" b="0">
                <a:solidFill>
                  <a:srgbClr val="5C6E7D"/>
                </a:solidFill>
                <a:latin typeface="Aptos"/>
              </a:rPr>
              <a:t>• Input pendapatan harian</a:t>
            </a:r>
            <a:br/>
            <a:r>
              <a:rPr sz="1150" b="0">
                <a:solidFill>
                  <a:srgbClr val="5C6E7D"/>
                </a:solidFill>
                <a:latin typeface="Aptos"/>
              </a:rPr>
              <a:t>• Melihat laporan terkait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91840"/>
            <a:ext cx="507492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493008"/>
            <a:ext cx="4590288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Capster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950208"/>
            <a:ext cx="4562856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5C6E7D"/>
                </a:solidFill>
                <a:latin typeface="Aptos"/>
              </a:rPr>
              <a:t>• Melihat riwayat sendiri</a:t>
            </a:r>
            <a:br/>
            <a:r>
              <a:rPr sz="1150" b="0">
                <a:solidFill>
                  <a:srgbClr val="5C6E7D"/>
                </a:solidFill>
                <a:latin typeface="Aptos"/>
              </a:rPr>
              <a:t>• Melihat hasil bagi hasil sendiri</a:t>
            </a:r>
            <a:br/>
            <a:r>
              <a:rPr sz="1150" b="0">
                <a:solidFill>
                  <a:srgbClr val="5C6E7D"/>
                </a:solidFill>
                <a:latin typeface="Aptos"/>
              </a:rPr>
              <a:t>• Tidak dapat mengubah transaksi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291840"/>
            <a:ext cx="507492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3493008"/>
            <a:ext cx="4590288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Pemilik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3950208"/>
            <a:ext cx="4562856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5C6E7D"/>
                </a:solidFill>
                <a:latin typeface="Aptos"/>
              </a:rPr>
              <a:t>• Memantau laporan usaha</a:t>
            </a:r>
            <a:br/>
            <a:r>
              <a:rPr sz="1150" b="0">
                <a:solidFill>
                  <a:srgbClr val="5C6E7D"/>
                </a:solidFill>
                <a:latin typeface="Aptos"/>
              </a:rPr>
              <a:t>• Melihat buku kas dan operasional</a:t>
            </a:r>
            <a:br/>
            <a:r>
              <a:rPr sz="1150" b="0">
                <a:solidFill>
                  <a:srgbClr val="5C6E7D"/>
                </a:solidFill>
                <a:latin typeface="Aptos"/>
              </a:rPr>
              <a:t>• Melihat bagian pondok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1323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161F24"/>
                </a:solidFill>
                <a:latin typeface="Aptos Display"/>
              </a:rPr>
              <a:t>Arsitektur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7680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5C6E7D"/>
                </a:solidFill>
                <a:latin typeface="Aptos"/>
              </a:rPr>
              <a:t>Aplikasi mobile sebagai antarmuka input dan validasi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42448" y="384048"/>
            <a:ext cx="1005840" cy="384048"/>
          </a:xfrm>
          <a:prstGeom prst="roundRect">
            <a:avLst/>
          </a:prstGeom>
          <a:solidFill>
            <a:srgbClr val="DCF5E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42448" y="461772"/>
            <a:ext cx="10058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>
                <a:solidFill>
                  <a:srgbClr val="115E59"/>
                </a:solidFill>
                <a:latin typeface="Apto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5C6E7D"/>
                </a:solidFill>
                <a:latin typeface="Aptos"/>
              </a:rPr>
              <a:t>Garden Barbershop Finance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37376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1">
                <a:solidFill>
                  <a:srgbClr val="5C6E7D"/>
                </a:solidFill>
                <a:latin typeface="Aptos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60320"/>
            <a:ext cx="205740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761488"/>
            <a:ext cx="1572768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Pengguna Internal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2560320"/>
            <a:ext cx="205740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1" y="2761488"/>
            <a:ext cx="1572768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Aplikasi Android Flutter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737360"/>
            <a:ext cx="205740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79592" y="1938528"/>
            <a:ext cx="1572767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Firebase Auth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23560" y="3401568"/>
            <a:ext cx="205740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79592" y="3602736"/>
            <a:ext cx="1572767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Cloud Firestore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2560320"/>
            <a:ext cx="205740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14232" y="2761488"/>
            <a:ext cx="1572768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Laporan &amp; Monitoring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43200" y="2990088"/>
            <a:ext cx="365760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166360" y="2167128"/>
            <a:ext cx="457200" cy="82296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66360" y="2990088"/>
            <a:ext cx="457200" cy="832103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80960" y="2167128"/>
            <a:ext cx="777240" cy="621792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680960" y="3154680"/>
            <a:ext cx="777240" cy="667511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51560" y="5166360"/>
            <a:ext cx="969264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0">
                <a:solidFill>
                  <a:srgbClr val="5C6E7D"/>
                </a:solidFill>
                <a:latin typeface="Aptos"/>
              </a:rPr>
              <a:t>Setiap proses simpan, ubah, hapus, dan ambil data dilakukan langsung melalui service Firebase. Tidak ada menu sinkronisasi manual.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1323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161F24"/>
                </a:solidFill>
                <a:latin typeface="Aptos Display"/>
              </a:rPr>
              <a:t>Fitur Utama Aplikasi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7680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5C6E7D"/>
                </a:solidFill>
                <a:latin typeface="Aptos"/>
              </a:rPr>
              <a:t>Fitur disesuaikan dengan kebutuhan internal Garden Barbershop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42448" y="384048"/>
            <a:ext cx="1005840" cy="384048"/>
          </a:xfrm>
          <a:prstGeom prst="roundRect">
            <a:avLst/>
          </a:prstGeom>
          <a:solidFill>
            <a:srgbClr val="DCF5E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42448" y="461772"/>
            <a:ext cx="10058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>
                <a:solidFill>
                  <a:srgbClr val="115E59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5C6E7D"/>
                </a:solidFill>
                <a:latin typeface="Aptos"/>
              </a:rPr>
              <a:t>Garden Barbershop Finance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37376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1">
                <a:solidFill>
                  <a:srgbClr val="5C6E7D"/>
                </a:solidFill>
                <a:latin typeface="Aptos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170432"/>
            <a:ext cx="315468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0976" y="1371600"/>
            <a:ext cx="438912" cy="43891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453896"/>
            <a:ext cx="43891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1371600"/>
            <a:ext cx="21579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Login dan pembatasan role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53128" y="1170432"/>
            <a:ext cx="315468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54296" y="1371600"/>
            <a:ext cx="438912" cy="438912"/>
          </a:xfrm>
          <a:prstGeom prst="ellipse">
            <a:avLst/>
          </a:prstGeom>
          <a:solidFill>
            <a:srgbClr val="D8A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4296" y="1453896"/>
            <a:ext cx="43891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1371600"/>
            <a:ext cx="21579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Kelola akun pengguna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8" y="1170432"/>
            <a:ext cx="315468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57616" y="1371600"/>
            <a:ext cx="438912" cy="43891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6" y="1453896"/>
            <a:ext cx="43891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24544" y="1371600"/>
            <a:ext cx="21579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Kelola data capster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2468880"/>
            <a:ext cx="315468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0976" y="2670048"/>
            <a:ext cx="438912" cy="43891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2752344"/>
            <a:ext cx="43891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17904" y="2670048"/>
            <a:ext cx="21579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Kelola data layanan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53128" y="2468880"/>
            <a:ext cx="315468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654296" y="2670048"/>
            <a:ext cx="438912" cy="43891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54296" y="2752344"/>
            <a:ext cx="43891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21224" y="2670048"/>
            <a:ext cx="21579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Input pendapatan harian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56448" y="2468880"/>
            <a:ext cx="315468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357616" y="2670048"/>
            <a:ext cx="438912" cy="43891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57616" y="2752344"/>
            <a:ext cx="43891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24544" y="2670048"/>
            <a:ext cx="21579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Buku kas umum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8" y="3767328"/>
            <a:ext cx="315468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50976" y="3968496"/>
            <a:ext cx="438912" cy="43891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" y="4050791"/>
            <a:ext cx="43891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17904" y="3968496"/>
            <a:ext cx="21579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Input biaya operasional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53128" y="3767328"/>
            <a:ext cx="315468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654296" y="3968496"/>
            <a:ext cx="438912" cy="43891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54296" y="4050791"/>
            <a:ext cx="43891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21224" y="3968496"/>
            <a:ext cx="21579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Laporan pembagian hasil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56448" y="3767328"/>
            <a:ext cx="315468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357616" y="3968496"/>
            <a:ext cx="438912" cy="438912"/>
          </a:xfrm>
          <a:prstGeom prst="ellipse">
            <a:avLst/>
          </a:prstGeom>
          <a:solidFill>
            <a:srgbClr val="D8A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57616" y="4050791"/>
            <a:ext cx="43891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24544" y="3968496"/>
            <a:ext cx="21579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Bagian pondok otomatis masuk kas umum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1323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161F24"/>
                </a:solidFill>
                <a:latin typeface="Aptos Display"/>
              </a:rPr>
              <a:t>Logika Pembagian Hasil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7680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5C6E7D"/>
                </a:solidFill>
                <a:latin typeface="Aptos"/>
              </a:rPr>
              <a:t>Rumus mengikuti pola Garden Barbershop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42448" y="384048"/>
            <a:ext cx="1005840" cy="384048"/>
          </a:xfrm>
          <a:prstGeom prst="roundRect">
            <a:avLst/>
          </a:prstGeom>
          <a:solidFill>
            <a:srgbClr val="DCF5E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42448" y="461772"/>
            <a:ext cx="10058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>
                <a:solidFill>
                  <a:srgbClr val="115E59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5C6E7D"/>
                </a:solidFill>
                <a:latin typeface="Aptos"/>
              </a:rPr>
              <a:t>Garden Barbershop Finance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37376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1">
                <a:solidFill>
                  <a:srgbClr val="5C6E7D"/>
                </a:solidFill>
                <a:latin typeface="Aptos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143000"/>
            <a:ext cx="5074920" cy="7589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1344168"/>
            <a:ext cx="4590288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Beban Operasional / Capster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801368"/>
            <a:ext cx="4562856" cy="-182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5C6E7D"/>
                </a:solidFill>
                <a:latin typeface="Aptos"/>
              </a:rPr>
              <a:t>Total Operasional Bulanan ÷ Jumlah Capster Aktif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148840"/>
            <a:ext cx="5074920" cy="7589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2350008"/>
            <a:ext cx="4590288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Pendapatan Bersih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2807208"/>
            <a:ext cx="4562856" cy="-182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5C6E7D"/>
                </a:solidFill>
                <a:latin typeface="Aptos"/>
              </a:rPr>
              <a:t>Pendapatan Kotor Capster − Beban Operasional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154680"/>
            <a:ext cx="5074920" cy="7589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1" y="3355848"/>
            <a:ext cx="4590288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Bagian Capster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1" y="3813048"/>
            <a:ext cx="4562856" cy="-182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5C6E7D"/>
                </a:solidFill>
                <a:latin typeface="Aptos"/>
              </a:rPr>
              <a:t>Pendapatan Bersih × 50%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160520"/>
            <a:ext cx="5074920" cy="7589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4361688"/>
            <a:ext cx="4590288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Bagian Pondok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818888"/>
            <a:ext cx="4562856" cy="-182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5C6E7D"/>
                </a:solidFill>
                <a:latin typeface="Aptos"/>
              </a:rPr>
              <a:t>Pendapatan Bersih × 50%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1325880"/>
            <a:ext cx="429768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47688" y="1527048"/>
            <a:ext cx="438912" cy="438912"/>
          </a:xfrm>
          <a:prstGeom prst="ellipse">
            <a:avLst/>
          </a:prstGeom>
          <a:solidFill>
            <a:srgbClr val="D8A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1609344"/>
            <a:ext cx="43891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4616" y="1527048"/>
            <a:ext cx="33009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Contoh Perhitungan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02552" y="1984248"/>
            <a:ext cx="3785616" cy="2834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5C6E7D"/>
                </a:solidFill>
                <a:latin typeface="Aptos"/>
              </a:rPr>
              <a:t>Total operasional Rp1.579.620</a:t>
            </a:r>
            <a:br/>
            <a:r>
              <a:rPr sz="1150" b="0">
                <a:solidFill>
                  <a:srgbClr val="5C6E7D"/>
                </a:solidFill>
                <a:latin typeface="Aptos"/>
              </a:rPr>
              <a:t>Capster aktif 3 orang</a:t>
            </a:r>
            <a:br/>
            <a:r>
              <a:rPr sz="1150" b="0">
                <a:solidFill>
                  <a:srgbClr val="5C6E7D"/>
                </a:solidFill>
                <a:latin typeface="Aptos"/>
              </a:rPr>
              <a:t>Operasional/capster Rp526.540</a:t>
            </a:r>
            <a:br/>
            <a:r>
              <a:rPr sz="1150" b="0">
                <a:solidFill>
                  <a:srgbClr val="5C6E7D"/>
                </a:solidFill>
                <a:latin typeface="Aptos"/>
              </a:rPr>
              <a:t>Pendapatan Diva Rp1.809.000</a:t>
            </a:r>
            <a:br/>
            <a:r>
              <a:rPr sz="1150" b="0">
                <a:solidFill>
                  <a:srgbClr val="5C6E7D"/>
                </a:solidFill>
                <a:latin typeface="Aptos"/>
              </a:rPr>
              <a:t>Pendapatan bersih Rp1.282.460</a:t>
            </a:r>
            <a:br/>
            <a:r>
              <a:rPr sz="1150" b="0">
                <a:solidFill>
                  <a:srgbClr val="5C6E7D"/>
                </a:solidFill>
                <a:latin typeface="Aptos"/>
              </a:rPr>
              <a:t>Bagian capster Rp641.230</a:t>
            </a:r>
            <a:br/>
            <a:r>
              <a:rPr sz="1150" b="0">
                <a:solidFill>
                  <a:srgbClr val="5C6E7D"/>
                </a:solidFill>
                <a:latin typeface="Aptos"/>
              </a:rPr>
              <a:t>Bagian pondok Rp641.230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1323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161F24"/>
                </a:solidFill>
                <a:latin typeface="Aptos Display"/>
              </a:rPr>
              <a:t>Metode Pengembangan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7680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5C6E7D"/>
                </a:solidFill>
                <a:latin typeface="Aptos"/>
              </a:rPr>
              <a:t>Waterfall menurut Sommerville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42448" y="384048"/>
            <a:ext cx="1005840" cy="384048"/>
          </a:xfrm>
          <a:prstGeom prst="roundRect">
            <a:avLst/>
          </a:prstGeom>
          <a:solidFill>
            <a:srgbClr val="DCF5E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42448" y="461772"/>
            <a:ext cx="10058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>
                <a:solidFill>
                  <a:srgbClr val="115E59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5C6E7D"/>
                </a:solidFill>
                <a:latin typeface="Aptos"/>
              </a:rPr>
              <a:t>Garden Barbershop Finance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37376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1">
                <a:solidFill>
                  <a:srgbClr val="5C6E7D"/>
                </a:solidFill>
                <a:latin typeface="Aptos"/>
              </a:rPr>
              <a:t>12</a:t>
            </a:r>
          </a:p>
        </p:txBody>
      </p:sp>
      <p:pic>
        <p:nvPicPr>
          <p:cNvPr id="9" name="Picture 8" descr="gambar_2_1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61872"/>
            <a:ext cx="5303520" cy="3219994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6537960" y="1581912"/>
            <a:ext cx="100584" cy="100584"/>
          </a:xfrm>
          <a:prstGeom prst="ellipse">
            <a:avLst/>
          </a:prstGeom>
          <a:solidFill>
            <a:srgbClr val="D8A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9128" y="1508760"/>
            <a:ext cx="4187952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115E59"/>
                </a:solidFill>
                <a:latin typeface="Aptos"/>
              </a:rPr>
              <a:t>Analisis kebutuhan</a:t>
            </a:r>
          </a:p>
        </p:txBody>
      </p:sp>
      <p:sp>
        <p:nvSpPr>
          <p:cNvPr id="12" name="Oval 11"/>
          <p:cNvSpPr/>
          <p:nvPr/>
        </p:nvSpPr>
        <p:spPr>
          <a:xfrm>
            <a:off x="6537960" y="2240280"/>
            <a:ext cx="100584" cy="100584"/>
          </a:xfrm>
          <a:prstGeom prst="ellipse">
            <a:avLst/>
          </a:prstGeom>
          <a:solidFill>
            <a:srgbClr val="D8A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39128" y="2167128"/>
            <a:ext cx="4187952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115E59"/>
                </a:solidFill>
                <a:latin typeface="Aptos"/>
              </a:rPr>
              <a:t>Perancangan sistem</a:t>
            </a:r>
          </a:p>
        </p:txBody>
      </p:sp>
      <p:sp>
        <p:nvSpPr>
          <p:cNvPr id="14" name="Oval 13"/>
          <p:cNvSpPr/>
          <p:nvPr/>
        </p:nvSpPr>
        <p:spPr>
          <a:xfrm>
            <a:off x="6537960" y="2898648"/>
            <a:ext cx="100584" cy="100584"/>
          </a:xfrm>
          <a:prstGeom prst="ellipse">
            <a:avLst/>
          </a:prstGeom>
          <a:solidFill>
            <a:srgbClr val="D8A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39128" y="2825496"/>
            <a:ext cx="4187952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115E59"/>
                </a:solidFill>
                <a:latin typeface="Aptos"/>
              </a:rPr>
              <a:t>Implementasi aplikasi</a:t>
            </a:r>
          </a:p>
        </p:txBody>
      </p:sp>
      <p:sp>
        <p:nvSpPr>
          <p:cNvPr id="16" name="Oval 15"/>
          <p:cNvSpPr/>
          <p:nvPr/>
        </p:nvSpPr>
        <p:spPr>
          <a:xfrm>
            <a:off x="6537960" y="3557016"/>
            <a:ext cx="100584" cy="100584"/>
          </a:xfrm>
          <a:prstGeom prst="ellipse">
            <a:avLst/>
          </a:prstGeom>
          <a:solidFill>
            <a:srgbClr val="D8A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39128" y="3483864"/>
            <a:ext cx="4187952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115E59"/>
                </a:solidFill>
                <a:latin typeface="Aptos"/>
              </a:rPr>
              <a:t>Pengujian sistem</a:t>
            </a:r>
          </a:p>
        </p:txBody>
      </p:sp>
      <p:sp>
        <p:nvSpPr>
          <p:cNvPr id="18" name="Oval 17"/>
          <p:cNvSpPr/>
          <p:nvPr/>
        </p:nvSpPr>
        <p:spPr>
          <a:xfrm>
            <a:off x="6537960" y="4215383"/>
            <a:ext cx="100584" cy="100584"/>
          </a:xfrm>
          <a:prstGeom prst="ellipse">
            <a:avLst/>
          </a:prstGeom>
          <a:solidFill>
            <a:srgbClr val="D8A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39128" y="4142231"/>
            <a:ext cx="4187952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115E59"/>
                </a:solidFill>
                <a:latin typeface="Aptos"/>
              </a:rPr>
              <a:t>Pemeliharaan sistem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5074920"/>
            <a:ext cx="416052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5C6E7D"/>
                </a:solidFill>
                <a:latin typeface="Aptos"/>
              </a:rPr>
              <a:t>Dipilih karena kebutuhan sistem dapat dirumuskan sejak awal berdasarkan proses operasional Garden Barbershop.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1323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161F24"/>
                </a:solidFill>
                <a:latin typeface="Aptos Display"/>
              </a:rPr>
              <a:t>Tahapan Penelitian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7680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5C6E7D"/>
                </a:solidFill>
                <a:latin typeface="Aptos"/>
              </a:rPr>
              <a:t>Alur kerja penelitian dari identifikasi hingga laporan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42448" y="384048"/>
            <a:ext cx="1005840" cy="384048"/>
          </a:xfrm>
          <a:prstGeom prst="roundRect">
            <a:avLst/>
          </a:prstGeom>
          <a:solidFill>
            <a:srgbClr val="DCF5E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42448" y="461772"/>
            <a:ext cx="10058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>
                <a:solidFill>
                  <a:srgbClr val="115E59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5C6E7D"/>
                </a:solidFill>
                <a:latin typeface="Aptos"/>
              </a:rPr>
              <a:t>Garden Barbershop Finance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37376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1">
                <a:solidFill>
                  <a:srgbClr val="5C6E7D"/>
                </a:solidFill>
                <a:latin typeface="Aptos"/>
              </a:rPr>
              <a:t>13</a:t>
            </a:r>
          </a:p>
        </p:txBody>
      </p:sp>
      <p:pic>
        <p:nvPicPr>
          <p:cNvPr id="9" name="Picture 8" descr="gambar_3_1_tahap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97280"/>
            <a:ext cx="5577840" cy="338654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720840" y="1234440"/>
            <a:ext cx="4251960" cy="4160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922007" y="1435608"/>
            <a:ext cx="438912" cy="43891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22007" y="1517904"/>
            <a:ext cx="43891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88936" y="1435608"/>
            <a:ext cx="325526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Data dan Bahan Penelitian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6872" y="1892808"/>
            <a:ext cx="3739896" cy="33832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5C6E7D"/>
                </a:solidFill>
                <a:latin typeface="Aptos"/>
              </a:rPr>
              <a:t>Observasi, wawancara, studi pustaka, dokumentasi laporan Mei 2026, data capster, data layanan, data pendapatan harian, buku kas umum, operasional, dan laporan pembagian hasil.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1323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161F24"/>
                </a:solidFill>
                <a:latin typeface="Aptos Display"/>
              </a:rPr>
              <a:t>Gambaran Rancangan Antarmuka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7680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5C6E7D"/>
                </a:solidFill>
                <a:latin typeface="Aptos"/>
              </a:rPr>
              <a:t>Rancangan dibuat mobile-first agar mudah digunakan di barbershop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42448" y="384048"/>
            <a:ext cx="1005840" cy="384048"/>
          </a:xfrm>
          <a:prstGeom prst="roundRect">
            <a:avLst/>
          </a:prstGeom>
          <a:solidFill>
            <a:srgbClr val="DCF5E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42448" y="461772"/>
            <a:ext cx="10058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>
                <a:solidFill>
                  <a:srgbClr val="115E59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5C6E7D"/>
                </a:solidFill>
                <a:latin typeface="Aptos"/>
              </a:rPr>
              <a:t>Garden Barbershop Finance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37376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1">
                <a:solidFill>
                  <a:srgbClr val="5C6E7D"/>
                </a:solidFill>
                <a:latin typeface="Aptos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325880"/>
            <a:ext cx="1508760" cy="2788920"/>
          </a:xfrm>
          <a:prstGeom prst="roundRect">
            <a:avLst/>
          </a:prstGeom>
          <a:solidFill>
            <a:srgbClr val="16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1527048"/>
            <a:ext cx="1289304" cy="24048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673352"/>
            <a:ext cx="1143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>
                <a:solidFill>
                  <a:srgbClr val="161F24"/>
                </a:solidFill>
                <a:latin typeface="Aptos"/>
              </a:rPr>
              <a:t>Login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6695" y="2011680"/>
            <a:ext cx="1069848" cy="228600"/>
          </a:xfrm>
          <a:prstGeom prst="roundRect">
            <a:avLst/>
          </a:prstGeom>
          <a:solidFill>
            <a:srgbClr val="F4F7F8"/>
          </a:solidFill>
          <a:ln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066544"/>
            <a:ext cx="960120" cy="73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30" b="0">
                <a:solidFill>
                  <a:srgbClr val="5C6E7D"/>
                </a:solidFill>
                <a:latin typeface="Aptos"/>
              </a:rPr>
              <a:t>Username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6695" y="2359152"/>
            <a:ext cx="1069848" cy="228600"/>
          </a:xfrm>
          <a:prstGeom prst="roundRect">
            <a:avLst/>
          </a:prstGeom>
          <a:solidFill>
            <a:srgbClr val="F4F7F8"/>
          </a:solidFill>
          <a:ln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414016"/>
            <a:ext cx="960120" cy="73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30" b="0">
                <a:solidFill>
                  <a:srgbClr val="5C6E7D"/>
                </a:solidFill>
                <a:latin typeface="Aptos"/>
              </a:rPr>
              <a:t>Password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6695" y="2706624"/>
            <a:ext cx="1069848" cy="228600"/>
          </a:xfrm>
          <a:prstGeom prst="roundRect">
            <a:avLst/>
          </a:prstGeom>
          <a:solidFill>
            <a:srgbClr val="F4F7F8"/>
          </a:solidFill>
          <a:ln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761488"/>
            <a:ext cx="960120" cy="73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30" b="0">
                <a:solidFill>
                  <a:srgbClr val="5C6E7D"/>
                </a:solidFill>
                <a:latin typeface="Aptos"/>
              </a:rPr>
              <a:t>Masuk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6695" y="3538728"/>
            <a:ext cx="1069848" cy="21031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834640" y="1325880"/>
            <a:ext cx="1508760" cy="2788920"/>
          </a:xfrm>
          <a:prstGeom prst="roundRect">
            <a:avLst/>
          </a:prstGeom>
          <a:solidFill>
            <a:srgbClr val="16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944368" y="1527048"/>
            <a:ext cx="1289304" cy="24048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17520" y="1673352"/>
            <a:ext cx="1143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>
                <a:solidFill>
                  <a:srgbClr val="161F24"/>
                </a:solidFill>
                <a:latin typeface="Aptos"/>
              </a:rPr>
              <a:t>Dashboard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54096" y="2011680"/>
            <a:ext cx="1069848" cy="228600"/>
          </a:xfrm>
          <a:prstGeom prst="roundRect">
            <a:avLst/>
          </a:prstGeom>
          <a:solidFill>
            <a:srgbClr val="DCF5EE"/>
          </a:solidFill>
          <a:ln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08960" y="2066544"/>
            <a:ext cx="960120" cy="73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30" b="0">
                <a:solidFill>
                  <a:srgbClr val="115E59"/>
                </a:solidFill>
                <a:latin typeface="Aptos"/>
              </a:rPr>
              <a:t>Total Rp5.115.000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54096" y="2359152"/>
            <a:ext cx="1069848" cy="228600"/>
          </a:xfrm>
          <a:prstGeom prst="roundRect">
            <a:avLst/>
          </a:prstGeom>
          <a:solidFill>
            <a:srgbClr val="F4F7F8"/>
          </a:solidFill>
          <a:ln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0" y="2414016"/>
            <a:ext cx="960120" cy="73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30" b="0">
                <a:solidFill>
                  <a:srgbClr val="5C6E7D"/>
                </a:solidFill>
                <a:latin typeface="Aptos"/>
              </a:rPr>
              <a:t>Operasional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54096" y="2706624"/>
            <a:ext cx="1069848" cy="228600"/>
          </a:xfrm>
          <a:prstGeom prst="roundRect">
            <a:avLst/>
          </a:prstGeom>
          <a:solidFill>
            <a:srgbClr val="F4F7F8"/>
          </a:solidFill>
          <a:ln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0" y="2761488"/>
            <a:ext cx="960120" cy="73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30" b="0">
                <a:solidFill>
                  <a:srgbClr val="5C6E7D"/>
                </a:solidFill>
                <a:latin typeface="Aptos"/>
              </a:rPr>
              <a:t>Capster Aktif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54096" y="3054096"/>
            <a:ext cx="1069848" cy="228600"/>
          </a:xfrm>
          <a:prstGeom prst="roundRect">
            <a:avLst/>
          </a:prstGeom>
          <a:solidFill>
            <a:srgbClr val="F4F7F8"/>
          </a:solidFill>
          <a:ln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08960" y="3108960"/>
            <a:ext cx="960120" cy="73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30" b="0">
                <a:solidFill>
                  <a:srgbClr val="5C6E7D"/>
                </a:solidFill>
                <a:latin typeface="Aptos"/>
              </a:rPr>
              <a:t>Laporan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54096" y="3538728"/>
            <a:ext cx="1069848" cy="21031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892040" y="1325880"/>
            <a:ext cx="1508760" cy="2788920"/>
          </a:xfrm>
          <a:prstGeom prst="roundRect">
            <a:avLst/>
          </a:prstGeom>
          <a:solidFill>
            <a:srgbClr val="16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001768" y="1527048"/>
            <a:ext cx="1289304" cy="24048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74920" y="1673352"/>
            <a:ext cx="1143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>
                <a:solidFill>
                  <a:srgbClr val="161F24"/>
                </a:solidFill>
                <a:latin typeface="Aptos"/>
              </a:rPr>
              <a:t>Pendapatan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11496" y="2011680"/>
            <a:ext cx="1069848" cy="228600"/>
          </a:xfrm>
          <a:prstGeom prst="roundRect">
            <a:avLst/>
          </a:prstGeom>
          <a:solidFill>
            <a:srgbClr val="F4F7F8"/>
          </a:solidFill>
          <a:ln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66359" y="2066544"/>
            <a:ext cx="960120" cy="73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30" b="0">
                <a:solidFill>
                  <a:srgbClr val="5C6E7D"/>
                </a:solidFill>
                <a:latin typeface="Aptos"/>
              </a:rPr>
              <a:t>Tanggal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11496" y="2359152"/>
            <a:ext cx="1069848" cy="228600"/>
          </a:xfrm>
          <a:prstGeom prst="roundRect">
            <a:avLst/>
          </a:prstGeom>
          <a:solidFill>
            <a:srgbClr val="F4F7F8"/>
          </a:solidFill>
          <a:ln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66359" y="2414016"/>
            <a:ext cx="960120" cy="73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30" b="0">
                <a:solidFill>
                  <a:srgbClr val="5C6E7D"/>
                </a:solidFill>
                <a:latin typeface="Aptos"/>
              </a:rPr>
              <a:t>Nama Capster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11496" y="2706624"/>
            <a:ext cx="1069848" cy="228600"/>
          </a:xfrm>
          <a:prstGeom prst="roundRect">
            <a:avLst/>
          </a:prstGeom>
          <a:solidFill>
            <a:srgbClr val="F4F7F8"/>
          </a:solidFill>
          <a:ln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66359" y="2761488"/>
            <a:ext cx="960120" cy="73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30" b="0">
                <a:solidFill>
                  <a:srgbClr val="5C6E7D"/>
                </a:solidFill>
                <a:latin typeface="Aptos"/>
              </a:rPr>
              <a:t>Jumlah Layanan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11496" y="3054096"/>
            <a:ext cx="1069848" cy="228600"/>
          </a:xfrm>
          <a:prstGeom prst="roundRect">
            <a:avLst/>
          </a:prstGeom>
          <a:solidFill>
            <a:srgbClr val="DCF5EE"/>
          </a:solidFill>
          <a:ln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66359" y="3108960"/>
            <a:ext cx="960120" cy="73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30" b="0">
                <a:solidFill>
                  <a:srgbClr val="115E59"/>
                </a:solidFill>
                <a:latin typeface="Aptos"/>
              </a:rPr>
              <a:t>Total Customer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11496" y="3538728"/>
            <a:ext cx="1069848" cy="210312"/>
          </a:xfrm>
          <a:prstGeom prst="roundRect">
            <a:avLst/>
          </a:prstGeom>
          <a:solidFill>
            <a:srgbClr val="D8A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949440" y="1325880"/>
            <a:ext cx="1508760" cy="2788920"/>
          </a:xfrm>
          <a:prstGeom prst="roundRect">
            <a:avLst/>
          </a:prstGeom>
          <a:solidFill>
            <a:srgbClr val="16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059168" y="1527048"/>
            <a:ext cx="1289304" cy="24048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0" y="1673352"/>
            <a:ext cx="1143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>
                <a:solidFill>
                  <a:srgbClr val="161F24"/>
                </a:solidFill>
                <a:latin typeface="Aptos"/>
              </a:rPr>
              <a:t>Buku Kas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68896" y="2011680"/>
            <a:ext cx="1069848" cy="228600"/>
          </a:xfrm>
          <a:prstGeom prst="roundRect">
            <a:avLst/>
          </a:prstGeom>
          <a:solidFill>
            <a:srgbClr val="F4F7F8"/>
          </a:solidFill>
          <a:ln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23759" y="2066544"/>
            <a:ext cx="960120" cy="73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30" b="0">
                <a:solidFill>
                  <a:srgbClr val="5C6E7D"/>
                </a:solidFill>
                <a:latin typeface="Aptos"/>
              </a:rPr>
              <a:t>Tanggal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68896" y="2359152"/>
            <a:ext cx="1069848" cy="228600"/>
          </a:xfrm>
          <a:prstGeom prst="roundRect">
            <a:avLst/>
          </a:prstGeom>
          <a:solidFill>
            <a:srgbClr val="F4F7F8"/>
          </a:solidFill>
          <a:ln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23759" y="2414016"/>
            <a:ext cx="960120" cy="73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30" b="0">
                <a:solidFill>
                  <a:srgbClr val="5C6E7D"/>
                </a:solidFill>
                <a:latin typeface="Aptos"/>
              </a:rPr>
              <a:t>Uraian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168896" y="2706624"/>
            <a:ext cx="1069848" cy="228600"/>
          </a:xfrm>
          <a:prstGeom prst="roundRect">
            <a:avLst/>
          </a:prstGeom>
          <a:solidFill>
            <a:srgbClr val="F4F7F8"/>
          </a:solidFill>
          <a:ln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23759" y="2761488"/>
            <a:ext cx="960120" cy="73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30" b="0">
                <a:solidFill>
                  <a:srgbClr val="5C6E7D"/>
                </a:solidFill>
                <a:latin typeface="Aptos"/>
              </a:rPr>
              <a:t>Penerimaan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168896" y="3054096"/>
            <a:ext cx="1069848" cy="228600"/>
          </a:xfrm>
          <a:prstGeom prst="roundRect">
            <a:avLst/>
          </a:prstGeom>
          <a:solidFill>
            <a:srgbClr val="F4F7F8"/>
          </a:solidFill>
          <a:ln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23759" y="3108960"/>
            <a:ext cx="960120" cy="73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30" b="0">
                <a:solidFill>
                  <a:srgbClr val="5C6E7D"/>
                </a:solidFill>
                <a:latin typeface="Aptos"/>
              </a:rPr>
              <a:t>Pengeluaran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168896" y="3538728"/>
            <a:ext cx="1069848" cy="21031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006840" y="1325880"/>
            <a:ext cx="1508760" cy="2788920"/>
          </a:xfrm>
          <a:prstGeom prst="roundRect">
            <a:avLst/>
          </a:prstGeom>
          <a:solidFill>
            <a:srgbClr val="16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116567" y="1527048"/>
            <a:ext cx="1289304" cy="24048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89719" y="1673352"/>
            <a:ext cx="1143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>
                <a:solidFill>
                  <a:srgbClr val="161F24"/>
                </a:solidFill>
                <a:latin typeface="Aptos"/>
              </a:rPr>
              <a:t>Laporan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226296" y="2011680"/>
            <a:ext cx="1069848" cy="228600"/>
          </a:xfrm>
          <a:prstGeom prst="roundRect">
            <a:avLst/>
          </a:prstGeom>
          <a:solidFill>
            <a:srgbClr val="F4F7F8"/>
          </a:solidFill>
          <a:ln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281160" y="2066544"/>
            <a:ext cx="960120" cy="73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30" b="0">
                <a:solidFill>
                  <a:srgbClr val="5C6E7D"/>
                </a:solidFill>
                <a:latin typeface="Aptos"/>
              </a:rPr>
              <a:t>Bulan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226296" y="2359152"/>
            <a:ext cx="1069848" cy="228600"/>
          </a:xfrm>
          <a:prstGeom prst="roundRect">
            <a:avLst/>
          </a:prstGeom>
          <a:solidFill>
            <a:srgbClr val="F4F7F8"/>
          </a:solidFill>
          <a:ln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81160" y="2414016"/>
            <a:ext cx="960120" cy="73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30" b="0">
                <a:solidFill>
                  <a:srgbClr val="5C6E7D"/>
                </a:solidFill>
                <a:latin typeface="Aptos"/>
              </a:rPr>
              <a:t>Pendapatan Kotor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226296" y="2706624"/>
            <a:ext cx="1069848" cy="228600"/>
          </a:xfrm>
          <a:prstGeom prst="roundRect">
            <a:avLst/>
          </a:prstGeom>
          <a:solidFill>
            <a:srgbClr val="F4F7F8"/>
          </a:solidFill>
          <a:ln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281160" y="2761488"/>
            <a:ext cx="960120" cy="73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30" b="0">
                <a:solidFill>
                  <a:srgbClr val="5C6E7D"/>
                </a:solidFill>
                <a:latin typeface="Aptos"/>
              </a:rPr>
              <a:t>Bagian Capster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226296" y="3054096"/>
            <a:ext cx="1069848" cy="228600"/>
          </a:xfrm>
          <a:prstGeom prst="roundRect">
            <a:avLst/>
          </a:prstGeom>
          <a:solidFill>
            <a:srgbClr val="F4F7F8"/>
          </a:solidFill>
          <a:ln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281160" y="3108960"/>
            <a:ext cx="960120" cy="73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30" b="0">
                <a:solidFill>
                  <a:srgbClr val="5C6E7D"/>
                </a:solidFill>
                <a:latin typeface="Aptos"/>
              </a:rPr>
              <a:t>Bagian Pondok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226296" y="3538728"/>
            <a:ext cx="1069848" cy="210312"/>
          </a:xfrm>
          <a:prstGeom prst="roundRect">
            <a:avLst/>
          </a:prstGeom>
          <a:solidFill>
            <a:srgbClr val="D8A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51560" y="5349240"/>
            <a:ext cx="9875520" cy="4206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0">
                <a:solidFill>
                  <a:srgbClr val="5C6E7D"/>
                </a:solidFill>
                <a:latin typeface="Aptos"/>
              </a:rPr>
              <a:t>Fokus desain: sederhana, ringkas, validasi input jelas, dan cocok untuk penggunaan cepat melalui smartphone.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1323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161F24"/>
                </a:solidFill>
                <a:latin typeface="Aptos Display"/>
              </a:rPr>
              <a:t>Rencana Pengujian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7680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5C6E7D"/>
                </a:solidFill>
                <a:latin typeface="Aptos"/>
              </a:rPr>
              <a:t>Black Box Testing pada fungsi utama aplikasi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42448" y="384048"/>
            <a:ext cx="1005840" cy="384048"/>
          </a:xfrm>
          <a:prstGeom prst="roundRect">
            <a:avLst/>
          </a:prstGeom>
          <a:solidFill>
            <a:srgbClr val="DCF5E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42448" y="461772"/>
            <a:ext cx="10058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>
                <a:solidFill>
                  <a:srgbClr val="115E59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5C6E7D"/>
                </a:solidFill>
                <a:latin typeface="Aptos"/>
              </a:rPr>
              <a:t>Garden Barbershop Finance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37376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1">
                <a:solidFill>
                  <a:srgbClr val="5C6E7D"/>
                </a:solidFill>
                <a:latin typeface="Aptos"/>
              </a:rPr>
              <a:t>15</a:t>
            </a:r>
          </a:p>
        </p:txBody>
      </p:sp>
      <p:pic>
        <p:nvPicPr>
          <p:cNvPr id="9" name="Picture 8" descr="gambar_2_2_black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188720"/>
            <a:ext cx="4983480" cy="3025684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6400800" y="1307592"/>
            <a:ext cx="100584" cy="10058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234440"/>
            <a:ext cx="4462272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50" b="0">
                <a:solidFill>
                  <a:srgbClr val="161F24"/>
                </a:solidFill>
                <a:latin typeface="Aptos"/>
              </a:rPr>
              <a:t>Login dan pembatasan role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1810512"/>
            <a:ext cx="100584" cy="10058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1737360"/>
            <a:ext cx="4462272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50" b="0">
                <a:solidFill>
                  <a:srgbClr val="161F24"/>
                </a:solidFill>
                <a:latin typeface="Aptos"/>
              </a:rPr>
              <a:t>Kelola capster, layanan, dan akun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2313432"/>
            <a:ext cx="100584" cy="10058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2240280"/>
            <a:ext cx="4462272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50" b="0">
                <a:solidFill>
                  <a:srgbClr val="161F24"/>
                </a:solidFill>
                <a:latin typeface="Aptos"/>
              </a:rPr>
              <a:t>Input pendapatan harian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2816352"/>
            <a:ext cx="100584" cy="10058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743200"/>
            <a:ext cx="4462272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50" b="0">
                <a:solidFill>
                  <a:srgbClr val="161F24"/>
                </a:solidFill>
                <a:latin typeface="Aptos"/>
              </a:rPr>
              <a:t>Input buku kas dan operasional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3319272"/>
            <a:ext cx="100584" cy="10058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3246120"/>
            <a:ext cx="4462272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50" b="0">
                <a:solidFill>
                  <a:srgbClr val="161F24"/>
                </a:solidFill>
                <a:latin typeface="Aptos"/>
              </a:rPr>
              <a:t>Hitung pembagian hasil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3822191"/>
            <a:ext cx="100584" cy="10058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3749039"/>
            <a:ext cx="4462272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50" b="0">
                <a:solidFill>
                  <a:srgbClr val="161F24"/>
                </a:solidFill>
                <a:latin typeface="Aptos"/>
              </a:rPr>
              <a:t>Validasi data kosong/tidak sesuai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0" y="4325112"/>
            <a:ext cx="100584" cy="10058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1968" y="4251960"/>
            <a:ext cx="4462272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50" b="0">
                <a:solidFill>
                  <a:srgbClr val="161F24"/>
                </a:solidFill>
                <a:latin typeface="Aptos"/>
              </a:rPr>
              <a:t>Laporan sesuai hak akses pengguna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1323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161F24"/>
                </a:solidFill>
                <a:latin typeface="Aptos Display"/>
              </a:rPr>
              <a:t>Target Hasil Penelitian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7680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5C6E7D"/>
                </a:solidFill>
                <a:latin typeface="Aptos"/>
              </a:rPr>
              <a:t>Output yang diharapkan dari proposal ini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42448" y="384048"/>
            <a:ext cx="1005840" cy="384048"/>
          </a:xfrm>
          <a:prstGeom prst="roundRect">
            <a:avLst/>
          </a:prstGeom>
          <a:solidFill>
            <a:srgbClr val="DCF5E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42448" y="461772"/>
            <a:ext cx="10058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>
                <a:solidFill>
                  <a:srgbClr val="115E59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5C6E7D"/>
                </a:solidFill>
                <a:latin typeface="Aptos"/>
              </a:rPr>
              <a:t>Garden Barbershop Finance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37376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1">
                <a:solidFill>
                  <a:srgbClr val="5C6E7D"/>
                </a:solidFill>
                <a:latin typeface="Aptos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325880"/>
            <a:ext cx="2971800" cy="3520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8408" y="1527048"/>
            <a:ext cx="438912" cy="43891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609344"/>
            <a:ext cx="43891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5336" y="1527048"/>
            <a:ext cx="197510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Aplikasi Android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" y="1984248"/>
            <a:ext cx="2459736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5C6E7D"/>
                </a:solidFill>
                <a:latin typeface="Aptos"/>
              </a:rPr>
              <a:t>Garden Barbershop Finance berjalan pada perangkat Android dan digunakan oleh pengguna internal.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325880"/>
            <a:ext cx="2971800" cy="3520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98848" y="1527048"/>
            <a:ext cx="438912" cy="438912"/>
          </a:xfrm>
          <a:prstGeom prst="ellipse">
            <a:avLst/>
          </a:prstGeom>
          <a:solidFill>
            <a:srgbClr val="D8A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609344"/>
            <a:ext cx="43891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65776" y="1527048"/>
            <a:ext cx="197510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Database Firebase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1984248"/>
            <a:ext cx="2459736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5C6E7D"/>
                </a:solidFill>
                <a:latin typeface="Aptos"/>
              </a:rPr>
              <a:t>Data tersimpan terpusat pada Cloud Firestore dan akses pengguna dibatasi melalui role.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1325880"/>
            <a:ext cx="2971800" cy="3520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19288" y="1527048"/>
            <a:ext cx="438912" cy="43891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19288" y="1609344"/>
            <a:ext cx="43891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1527048"/>
            <a:ext cx="197510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Laporan Bagi Hasil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4152" y="1984248"/>
            <a:ext cx="2459736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5C6E7D"/>
                </a:solidFill>
                <a:latin typeface="Aptos"/>
              </a:rPr>
              <a:t>Laporan pendapatan, operasional, bagian capster, dan bagian pondok dapat dihitung otomatis.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57800"/>
            <a:ext cx="1014984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700" b="1">
                <a:solidFill>
                  <a:srgbClr val="115E59"/>
                </a:solidFill>
                <a:latin typeface="Aptos"/>
              </a:rPr>
              <a:t>Kontribusi penelitian: aplikasi back-office barbershop yang fokus pada pencatatan pendapatan dan pembagian hasil, bukan booking pelanggan.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5C6E7D"/>
                </a:solidFill>
                <a:latin typeface="Aptos"/>
              </a:rPr>
              <a:t>Garden Barbershop Finance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37376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1">
                <a:solidFill>
                  <a:srgbClr val="5C6E7D"/>
                </a:solidFill>
                <a:latin typeface="Aptos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640080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4400" b="1">
                <a:solidFill>
                  <a:srgbClr val="161F24"/>
                </a:solidFill>
                <a:latin typeface="Aptos Display"/>
              </a:rPr>
              <a:t>Terima kasih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649224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5C6E7D"/>
                </a:solidFill>
                <a:latin typeface="Aptos"/>
              </a:rPr>
              <a:t>Mohon arahan dan masukan untuk penyempurnaan proposal skripsi ini.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3017520"/>
            <a:ext cx="448056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2144" y="3218688"/>
            <a:ext cx="3995928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Judul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3675887"/>
            <a:ext cx="3968496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5C6E7D"/>
                </a:solidFill>
                <a:latin typeface="Aptos"/>
              </a:rPr>
              <a:t>Rancang Bangun Aplikasi Android Pengelolaan Pendapatan dan Pembagian Hasil Capster pada Garden Barbershop Berbasis Firebase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0" y="3017520"/>
            <a:ext cx="274320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71032" y="3218688"/>
            <a:ext cx="2258568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Penulis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1032" y="3675887"/>
            <a:ext cx="2231136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5C6E7D"/>
                </a:solidFill>
                <a:latin typeface="Aptos"/>
              </a:rPr>
              <a:t>Syahrul Anam</a:t>
            </a:r>
            <a:br/>
            <a:r>
              <a:rPr sz="1150" b="0">
                <a:solidFill>
                  <a:srgbClr val="5C6E7D"/>
                </a:solidFill>
                <a:latin typeface="Aptos"/>
              </a:rPr>
              <a:t>42322006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3017520"/>
            <a:ext cx="214884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88552" y="3218688"/>
            <a:ext cx="1664208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61F24"/>
                </a:solidFill>
                <a:latin typeface="Aptos"/>
              </a:rPr>
              <a:t>Program Studi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88552" y="3675887"/>
            <a:ext cx="1636776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5C6E7D"/>
                </a:solidFill>
                <a:latin typeface="Aptos"/>
              </a:rPr>
              <a:t>Sistem Informasi</a:t>
            </a:r>
            <a:br/>
            <a:r>
              <a:rPr sz="1150" b="0">
                <a:solidFill>
                  <a:srgbClr val="5C6E7D"/>
                </a:solidFill>
                <a:latin typeface="Aptos"/>
              </a:rPr>
              <a:t>Universitas Peradaban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257800"/>
            <a:ext cx="45720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15E59"/>
                </a:solidFill>
                <a:latin typeface="Aptos"/>
              </a:rPr>
              <a:t>Ada pertanyaan?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5C6E7D"/>
                </a:solidFill>
                <a:latin typeface="Aptos"/>
              </a:rPr>
              <a:t>Garden Barbershop Finance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37376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1">
                <a:solidFill>
                  <a:srgbClr val="5C6E7D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1323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161F24"/>
                </a:solidFill>
                <a:latin typeface="Aptos Display"/>
              </a:rPr>
              <a:t>Referensi Utama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7680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5C6E7D"/>
                </a:solidFill>
                <a:latin typeface="Aptos"/>
              </a:rPr>
              <a:t>Rujukan proposal yang digunakan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42448" y="384048"/>
            <a:ext cx="1005840" cy="384048"/>
          </a:xfrm>
          <a:prstGeom prst="roundRect">
            <a:avLst/>
          </a:prstGeom>
          <a:solidFill>
            <a:srgbClr val="DCF5E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42448" y="461772"/>
            <a:ext cx="10058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>
                <a:solidFill>
                  <a:srgbClr val="115E59"/>
                </a:solidFill>
                <a:latin typeface="Aptos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5C6E7D"/>
                </a:solidFill>
                <a:latin typeface="Aptos"/>
              </a:rPr>
              <a:t>Garden Barbershop Finance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37376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1">
                <a:solidFill>
                  <a:srgbClr val="5C6E7D"/>
                </a:solidFill>
                <a:latin typeface="Aptos"/>
              </a:rPr>
              <a:t>18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1399032"/>
            <a:ext cx="100584" cy="10058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1325880"/>
            <a:ext cx="9674352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161F24"/>
                </a:solidFill>
                <a:latin typeface="Aptos"/>
              </a:rPr>
              <a:t>Refwahajan &amp; Waluyo, aplikasi barbershop berbasis Android [1]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020824"/>
            <a:ext cx="100584" cy="10058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1947672"/>
            <a:ext cx="9674352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161F24"/>
                </a:solidFill>
                <a:latin typeface="Aptos"/>
              </a:rPr>
              <a:t>Rohmat dkk., pemesanan online barbershop dan Black Box Testing [2]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642616"/>
            <a:ext cx="100584" cy="10058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2569464"/>
            <a:ext cx="9674352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161F24"/>
                </a:solidFill>
                <a:latin typeface="Aptos"/>
              </a:rPr>
              <a:t>Bahtiar dkk., aplikasi barbershop untuk informasi dan layanan [3]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264408"/>
            <a:ext cx="100584" cy="10058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3191256"/>
            <a:ext cx="9674352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161F24"/>
                </a:solidFill>
                <a:latin typeface="Aptos"/>
              </a:rPr>
              <a:t>Yurindra dkk., client-server Android pada barbershop [4]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3886200"/>
            <a:ext cx="100584" cy="10058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3813048"/>
            <a:ext cx="9674352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161F24"/>
                </a:solidFill>
                <a:latin typeface="Aptos"/>
              </a:rPr>
              <a:t>Sommerville, Software Engineering untuk model Waterfall [5]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86400"/>
            <a:ext cx="97840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5C6E7D"/>
                </a:solidFill>
                <a:latin typeface="Aptos"/>
              </a:rPr>
              <a:t>Slide referensi ini dapat digunakan sebagai cadangan jika penguji menanyakan dasar teori atau rujukan utama.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